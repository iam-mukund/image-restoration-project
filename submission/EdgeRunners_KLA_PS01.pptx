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925F37-F826-490C-B4C0-9D853F884733}" v="1" dt="2026-08-16T17:53:16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10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nd Vinayak" userId="f40a34565019b77c" providerId="LiveId" clId="{4F01F028-D91D-4A1D-B254-89D3DBB0368B}"/>
    <pc:docChg chg="modSld">
      <pc:chgData name="Mukund Vinayak" userId="f40a34565019b77c" providerId="LiveId" clId="{4F01F028-D91D-4A1D-B254-89D3DBB0368B}" dt="2026-08-16T17:53:16.397" v="0"/>
      <pc:docMkLst>
        <pc:docMk/>
      </pc:docMkLst>
      <pc:sldChg chg="modSp">
        <pc:chgData name="Mukund Vinayak" userId="f40a34565019b77c" providerId="LiveId" clId="{4F01F028-D91D-4A1D-B254-89D3DBB0368B}" dt="2026-08-16T17:53:16.397" v="0"/>
        <pc:sldMkLst>
          <pc:docMk/>
          <pc:sldMk cId="0" sldId="268"/>
        </pc:sldMkLst>
        <pc:spChg chg="mod">
          <ac:chgData name="Mukund Vinayak" userId="f40a34565019b77c" providerId="LiveId" clId="{4F01F028-D91D-4A1D-B254-89D3DBB0368B}" dt="2026-08-16T17:53:16.397" v="0"/>
          <ac:spMkLst>
            <pc:docMk/>
            <pc:sldMk cId="0" sldId="268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11.jpe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111.09881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17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hyperlink" Target="https://arxiv.org/abs/2103.14006" TargetMode="External"/><Relationship Id="rId4" Type="http://schemas.openxmlformats.org/officeDocument/2006/relationships/image" Target="../media/image11.jpeg"/><Relationship Id="rId9" Type="http://schemas.openxmlformats.org/officeDocument/2006/relationships/hyperlink" Target="https://arxiv.org/abs/1707.0293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1342339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Details</a:t>
            </a:r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>
              <a:solidFill>
                <a:schemeClr val="bg2"/>
              </a:solidFill>
            </a:endParaRPr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>
              <a:solidFill>
                <a:schemeClr val="bg2"/>
              </a:solidFill>
            </a:endParaRPr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chemeClr val="bg2"/>
                </a:solidFill>
              </a:rPr>
              <a:t>EdgeRunners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</a:rPr>
              <a:t>Mukund Vinayak</a:t>
            </a:r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chemeClr val="bg2"/>
                </a:solidFill>
                <a:latin typeface="Poppins" pitchFamily="34" charset="0"/>
                <a:cs typeface="Poppins" pitchFamily="34" charset="-120"/>
              </a:rPr>
              <a:t>5</a:t>
            </a:r>
            <a:r>
              <a:rPr lang="en-US" sz="1100" i="1" baseline="30000" dirty="0">
                <a:solidFill>
                  <a:schemeClr val="bg2"/>
                </a:solidFill>
                <a:latin typeface="Poppins" pitchFamily="34" charset="0"/>
                <a:cs typeface="Poppins" pitchFamily="34" charset="-120"/>
              </a:rPr>
              <a:t>th</a:t>
            </a:r>
            <a:r>
              <a:rPr lang="en-US" sz="1100" i="1" dirty="0">
                <a:solidFill>
                  <a:schemeClr val="bg2"/>
                </a:solidFill>
                <a:latin typeface="Poppins" pitchFamily="34" charset="0"/>
                <a:cs typeface="Poppins" pitchFamily="34" charset="-120"/>
              </a:rPr>
              <a:t> Year	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</a:rPr>
              <a:t>Vishnu </a:t>
            </a:r>
            <a:r>
              <a:rPr lang="en-US" sz="1100" dirty="0" err="1">
                <a:solidFill>
                  <a:schemeClr val="bg2"/>
                </a:solidFill>
              </a:rPr>
              <a:t>Velkumar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chemeClr val="bg2"/>
                </a:solidFill>
                <a:latin typeface="Poppins" pitchFamily="34" charset="0"/>
                <a:cs typeface="Poppins" pitchFamily="34" charset="-120"/>
              </a:rPr>
              <a:t>5</a:t>
            </a:r>
            <a:r>
              <a:rPr lang="en-US" sz="1100" i="1" baseline="30000" dirty="0">
                <a:solidFill>
                  <a:schemeClr val="bg2"/>
                </a:solidFill>
                <a:latin typeface="Poppins" pitchFamily="34" charset="0"/>
                <a:cs typeface="Poppins" pitchFamily="34" charset="-120"/>
              </a:rPr>
              <a:t>th</a:t>
            </a:r>
            <a:r>
              <a:rPr lang="en-US" sz="1100" i="1" dirty="0">
                <a:solidFill>
                  <a:schemeClr val="bg2"/>
                </a:solidFill>
                <a:latin typeface="Poppins" pitchFamily="34" charset="0"/>
                <a:cs typeface="Poppins" pitchFamily="34" charset="-120"/>
              </a:rPr>
              <a:t> Year</a:t>
            </a:r>
            <a:endParaRPr lang="en-US" sz="1100" i="1" dirty="0">
              <a:solidFill>
                <a:schemeClr val="bg2"/>
              </a:solidFill>
            </a:endParaRPr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63" name="Text 54"/>
          <p:cNvSpPr txBox="1"/>
          <p:nvPr/>
        </p:nvSpPr>
        <p:spPr>
          <a:xfrm>
            <a:off x="923543" y="5152644"/>
            <a:ext cx="2858415" cy="276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Coimbatore Institute of technology</a:t>
            </a:r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{+91 7358800290}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25211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Poppins" pitchFamily="34" charset="0"/>
                <a:cs typeface="Poppins" pitchFamily="34" charset="-120"/>
              </a:rPr>
              <a:t>mukundvinayak30@gmail.com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solidFill>
                <a:schemeClr val="bg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62773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070555"/>
            <a:ext cx="10368660" cy="3217601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33856" y="3242462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33856" y="3622710"/>
            <a:ext cx="7568008" cy="186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>
                <a:solidFill>
                  <a:schemeClr val="bg2"/>
                </a:solidFill>
              </a:rPr>
              <a:t>AI-Based Restoration of Degraded Images for Semiconductor Inspection-KLA</a:t>
            </a:r>
          </a:p>
          <a:p>
            <a:endParaRPr lang="en-IN" b="1" dirty="0">
              <a:solidFill>
                <a:schemeClr val="bg2"/>
              </a:solidFill>
            </a:endParaRPr>
          </a:p>
          <a:p>
            <a:endParaRPr lang="en-IN" b="1" dirty="0">
              <a:solidFill>
                <a:schemeClr val="bg2"/>
              </a:solidFill>
            </a:endParaRPr>
          </a:p>
          <a:p>
            <a:r>
              <a:rPr lang="en-IN" dirty="0">
                <a:solidFill>
                  <a:schemeClr val="bg2"/>
                </a:solidFill>
              </a:rPr>
              <a:t>Build an  AI model that takes a degraded, noisy low-resolution semiconductor inspection image and restores it to match the original high-resolution, clean ground truth image, as closely as possible, as fast as possible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- 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1806854" y="2362810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771297" y="2248421"/>
            <a:ext cx="10458755" cy="1732564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961948" y="2346919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961948" y="2553919"/>
            <a:ext cx="9896552" cy="129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sz="1600" b="1" dirty="0">
                <a:solidFill>
                  <a:schemeClr val="bg2"/>
                </a:solidFill>
              </a:rPr>
              <a:t>DAF-</a:t>
            </a:r>
            <a:r>
              <a:rPr lang="en-IN" sz="1600" b="1" dirty="0" err="1">
                <a:solidFill>
                  <a:schemeClr val="bg2"/>
                </a:solidFill>
              </a:rPr>
              <a:t>Restormer</a:t>
            </a:r>
            <a:r>
              <a:rPr lang="en-IN" sz="1600" b="1" dirty="0">
                <a:solidFill>
                  <a:schemeClr val="bg2"/>
                </a:solidFill>
              </a:rPr>
              <a:t> Backbone</a:t>
            </a:r>
            <a:r>
              <a:rPr lang="en-IN" sz="1600" dirty="0">
                <a:solidFill>
                  <a:schemeClr val="bg2"/>
                </a:solidFill>
              </a:rPr>
              <a:t>: </a:t>
            </a:r>
            <a:r>
              <a:rPr lang="en-IN" sz="1600" dirty="0" err="1">
                <a:solidFill>
                  <a:schemeClr val="bg2"/>
                </a:solidFill>
              </a:rPr>
              <a:t>Restormer</a:t>
            </a:r>
            <a:r>
              <a:rPr lang="en-IN" sz="1600" dirty="0">
                <a:solidFill>
                  <a:schemeClr val="bg2"/>
                </a:solidFill>
              </a:rPr>
              <a:t> enhanced with dynamic degradation prompting and FFT frequency filtering.</a:t>
            </a:r>
          </a:p>
          <a:p>
            <a:pPr lvl="0"/>
            <a:r>
              <a:rPr lang="en-IN" sz="1600" b="1" dirty="0">
                <a:solidFill>
                  <a:schemeClr val="bg2"/>
                </a:solidFill>
              </a:rPr>
              <a:t>Degradation Encoder</a:t>
            </a:r>
            <a:r>
              <a:rPr lang="en-IN" sz="1600" dirty="0">
                <a:solidFill>
                  <a:schemeClr val="bg2"/>
                </a:solidFill>
              </a:rPr>
              <a:t>: Predicts a 64-dim prompt vector &amp; spatial noise map without assuming fixed noise distributions.</a:t>
            </a:r>
          </a:p>
          <a:p>
            <a:pPr lvl="0"/>
            <a:r>
              <a:rPr lang="en-IN" sz="1600" b="1" dirty="0">
                <a:solidFill>
                  <a:schemeClr val="bg2"/>
                </a:solidFill>
              </a:rPr>
              <a:t>Spectral Bottleneck</a:t>
            </a:r>
            <a:r>
              <a:rPr lang="en-IN" sz="1600" dirty="0">
                <a:solidFill>
                  <a:schemeClr val="bg2"/>
                </a:solidFill>
              </a:rPr>
              <a:t>: FFT magnitude gating filters periodic grain patterns while preserving exact phase geometry.</a:t>
            </a:r>
          </a:p>
        </p:txBody>
      </p:sp>
      <p:sp>
        <p:nvSpPr>
          <p:cNvPr id="20" name="Shape 14"/>
          <p:cNvSpPr/>
          <p:nvPr/>
        </p:nvSpPr>
        <p:spPr>
          <a:xfrm>
            <a:off x="771297" y="4131861"/>
            <a:ext cx="10563605" cy="2023611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5"/>
          <p:cNvSpPr txBox="1"/>
          <p:nvPr/>
        </p:nvSpPr>
        <p:spPr>
          <a:xfrm>
            <a:off x="961948" y="4311676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961947" y="4602589"/>
            <a:ext cx="9174511" cy="132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sz="1600" b="1" dirty="0">
                <a:solidFill>
                  <a:schemeClr val="bg2"/>
                </a:solidFill>
              </a:rPr>
              <a:t>Unclipped Signal Mapping</a:t>
            </a:r>
            <a:r>
              <a:rPr lang="en-IN" sz="1600" dirty="0">
                <a:solidFill>
                  <a:schemeClr val="bg2"/>
                </a:solidFill>
              </a:rPr>
              <a:t>: Restores 128x128 noisy inputs (&lt;0 or &gt;1) directly to clean 256x256 targets ([0, 1]).</a:t>
            </a:r>
          </a:p>
          <a:p>
            <a:pPr lvl="0"/>
            <a:r>
              <a:rPr lang="en-IN" sz="1600" b="1" dirty="0">
                <a:solidFill>
                  <a:schemeClr val="bg2"/>
                </a:solidFill>
              </a:rPr>
              <a:t>2-Stage Training</a:t>
            </a:r>
            <a:r>
              <a:rPr lang="en-IN" sz="1600" dirty="0">
                <a:solidFill>
                  <a:schemeClr val="bg2"/>
                </a:solidFill>
              </a:rPr>
              <a:t>: 10-ep </a:t>
            </a:r>
            <a:r>
              <a:rPr lang="en-IN" sz="1600" dirty="0" err="1">
                <a:solidFill>
                  <a:schemeClr val="bg2"/>
                </a:solidFill>
              </a:rPr>
              <a:t>Charbonnier+SSIM</a:t>
            </a:r>
            <a:r>
              <a:rPr lang="en-IN" sz="1600" dirty="0">
                <a:solidFill>
                  <a:schemeClr val="bg2"/>
                </a:solidFill>
              </a:rPr>
              <a:t> pre-training + 2-ep LPIPS fine-tuning (</a:t>
            </a:r>
            <a:r>
              <a:rPr lang="en-IN" sz="1600" b="1" dirty="0">
                <a:solidFill>
                  <a:schemeClr val="bg2"/>
                </a:solidFill>
              </a:rPr>
              <a:t>22% LPIPS reduction: 0.2719 → 0.2122</a:t>
            </a:r>
            <a:r>
              <a:rPr lang="en-IN" sz="1600" dirty="0">
                <a:solidFill>
                  <a:schemeClr val="bg2"/>
                </a:solidFill>
              </a:rPr>
              <a:t>).</a:t>
            </a:r>
          </a:p>
          <a:p>
            <a:pPr lvl="0"/>
            <a:r>
              <a:rPr lang="en-IN" sz="1600" b="1" dirty="0">
                <a:solidFill>
                  <a:schemeClr val="bg2"/>
                </a:solidFill>
              </a:rPr>
              <a:t>High Performance</a:t>
            </a:r>
            <a:r>
              <a:rPr lang="en-IN" sz="1600" dirty="0">
                <a:solidFill>
                  <a:schemeClr val="bg2"/>
                </a:solidFill>
              </a:rPr>
              <a:t>: </a:t>
            </a:r>
            <a:r>
              <a:rPr lang="en-IN" sz="1600" b="1" dirty="0">
                <a:solidFill>
                  <a:schemeClr val="bg2"/>
                </a:solidFill>
              </a:rPr>
              <a:t>34.3 </a:t>
            </a:r>
            <a:r>
              <a:rPr lang="en-IN" sz="1600" b="1" dirty="0" err="1">
                <a:solidFill>
                  <a:schemeClr val="bg2"/>
                </a:solidFill>
              </a:rPr>
              <a:t>img</a:t>
            </a:r>
            <a:r>
              <a:rPr lang="en-IN" sz="1600" b="1" dirty="0">
                <a:solidFill>
                  <a:schemeClr val="bg2"/>
                </a:solidFill>
              </a:rPr>
              <a:t>/sec (35.8 </a:t>
            </a:r>
            <a:r>
              <a:rPr lang="en-IN" sz="1600" b="1" dirty="0" err="1">
                <a:solidFill>
                  <a:schemeClr val="bg2"/>
                </a:solidFill>
              </a:rPr>
              <a:t>ms</a:t>
            </a:r>
            <a:r>
              <a:rPr lang="en-IN" sz="1600" b="1" dirty="0">
                <a:solidFill>
                  <a:schemeClr val="bg2"/>
                </a:solidFill>
              </a:rPr>
              <a:t>/</a:t>
            </a:r>
            <a:r>
              <a:rPr lang="en-IN" sz="1600" b="1" dirty="0" err="1">
                <a:solidFill>
                  <a:schemeClr val="bg2"/>
                </a:solidFill>
              </a:rPr>
              <a:t>img</a:t>
            </a:r>
            <a:r>
              <a:rPr lang="en-IN" sz="1600" b="1" dirty="0">
                <a:solidFill>
                  <a:schemeClr val="bg2"/>
                </a:solidFill>
              </a:rPr>
              <a:t>)</a:t>
            </a:r>
            <a:r>
              <a:rPr lang="en-IN" sz="1600" dirty="0">
                <a:solidFill>
                  <a:schemeClr val="bg2"/>
                </a:solidFill>
              </a:rPr>
              <a:t> on T4 GPU; reaches </a:t>
            </a:r>
            <a:r>
              <a:rPr lang="en-IN" sz="1600" b="1" dirty="0">
                <a:solidFill>
                  <a:schemeClr val="bg2"/>
                </a:solidFill>
              </a:rPr>
              <a:t>28.47 dB PSNR &amp; 0.7712 SSIM</a:t>
            </a:r>
            <a:r>
              <a:rPr lang="en-IN" sz="1600" dirty="0">
                <a:solidFill>
                  <a:schemeClr val="bg2"/>
                </a:solidFill>
              </a:rPr>
              <a:t> with 8-view TTA.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857706" y="2349095"/>
            <a:ext cx="10477195" cy="402976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2532888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2907791"/>
            <a:ext cx="9934042" cy="3101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b="1" dirty="0">
                <a:solidFill>
                  <a:schemeClr val="bg2"/>
                </a:solidFill>
              </a:rPr>
              <a:t>Architecture Breakdown</a:t>
            </a:r>
            <a:r>
              <a:rPr lang="en-IN" dirty="0">
                <a:solidFill>
                  <a:schemeClr val="bg2"/>
                </a:solidFill>
              </a:rPr>
              <a:t>:</a:t>
            </a:r>
          </a:p>
          <a:p>
            <a:pPr lvl="1"/>
            <a:r>
              <a:rPr lang="en-IN" b="1" dirty="0">
                <a:solidFill>
                  <a:schemeClr val="bg2"/>
                </a:solidFill>
              </a:rPr>
              <a:t>Degradation Encoder</a:t>
            </a:r>
            <a:r>
              <a:rPr lang="en-IN" dirty="0">
                <a:solidFill>
                  <a:schemeClr val="bg2"/>
                </a:solidFill>
              </a:rPr>
              <a:t>: Extracts 64-dim prompt vector &amp; 128x128 spatial noise map from high-pass input features.</a:t>
            </a:r>
          </a:p>
          <a:p>
            <a:pPr lvl="1"/>
            <a:r>
              <a:rPr lang="en-IN" b="1" dirty="0">
                <a:solidFill>
                  <a:schemeClr val="bg2"/>
                </a:solidFill>
              </a:rPr>
              <a:t>Prompted Transformer</a:t>
            </a:r>
            <a:r>
              <a:rPr lang="en-IN" dirty="0">
                <a:solidFill>
                  <a:schemeClr val="bg2"/>
                </a:solidFill>
              </a:rPr>
              <a:t>: MDTA (channel-transposed attention) + GDFN blocks modulated by degradation prompts.</a:t>
            </a:r>
          </a:p>
          <a:p>
            <a:pPr lvl="1"/>
            <a:r>
              <a:rPr lang="en-IN" b="1" dirty="0">
                <a:solidFill>
                  <a:schemeClr val="bg2"/>
                </a:solidFill>
              </a:rPr>
              <a:t>Spectral Bottleneck</a:t>
            </a:r>
            <a:r>
              <a:rPr lang="en-IN" dirty="0">
                <a:solidFill>
                  <a:schemeClr val="bg2"/>
                </a:solidFill>
              </a:rPr>
              <a:t>: Prompt-conditioned FFT magnitude gating filters periodic grain while preserving phase.</a:t>
            </a:r>
          </a:p>
          <a:p>
            <a:pPr lvl="1"/>
            <a:r>
              <a:rPr lang="en-IN" b="1" dirty="0">
                <a:solidFill>
                  <a:schemeClr val="bg2"/>
                </a:solidFill>
              </a:rPr>
              <a:t>ICNR </a:t>
            </a:r>
            <a:r>
              <a:rPr lang="en-IN" b="1" dirty="0" err="1">
                <a:solidFill>
                  <a:schemeClr val="bg2"/>
                </a:solidFill>
              </a:rPr>
              <a:t>PixelShuffle</a:t>
            </a:r>
            <a:r>
              <a:rPr lang="en-IN" b="1" dirty="0">
                <a:solidFill>
                  <a:schemeClr val="bg2"/>
                </a:solidFill>
              </a:rPr>
              <a:t> Head</a:t>
            </a:r>
            <a:r>
              <a:rPr lang="en-IN" dirty="0">
                <a:solidFill>
                  <a:schemeClr val="bg2"/>
                </a:solidFill>
              </a:rPr>
              <a:t>: 2x </a:t>
            </a:r>
            <a:r>
              <a:rPr lang="en-IN" dirty="0" err="1">
                <a:solidFill>
                  <a:schemeClr val="bg2"/>
                </a:solidFill>
              </a:rPr>
              <a:t>upsampling</a:t>
            </a:r>
            <a:r>
              <a:rPr lang="en-IN" dirty="0">
                <a:solidFill>
                  <a:schemeClr val="bg2"/>
                </a:solidFill>
              </a:rPr>
              <a:t> with ICNR </a:t>
            </a:r>
            <a:r>
              <a:rPr lang="en-IN" dirty="0" err="1">
                <a:solidFill>
                  <a:schemeClr val="bg2"/>
                </a:solidFill>
              </a:rPr>
              <a:t>init</a:t>
            </a:r>
            <a:r>
              <a:rPr lang="en-IN" dirty="0">
                <a:solidFill>
                  <a:schemeClr val="bg2"/>
                </a:solidFill>
              </a:rPr>
              <a:t> to eliminate sub-pixel checkerboard artifacts.</a:t>
            </a:r>
          </a:p>
          <a:p>
            <a:pPr lvl="1"/>
            <a:r>
              <a:rPr lang="en-IN" b="1" dirty="0">
                <a:solidFill>
                  <a:schemeClr val="bg2"/>
                </a:solidFill>
              </a:rPr>
              <a:t>Progressive Supervision</a:t>
            </a:r>
            <a:r>
              <a:rPr lang="en-IN" dirty="0">
                <a:solidFill>
                  <a:schemeClr val="bg2"/>
                </a:solidFill>
              </a:rPr>
              <a:t>: Auxiliary 128x128 clean-LR reconstruction head + uncertainty estimation.</a:t>
            </a:r>
          </a:p>
          <a:p>
            <a:pPr lvl="0"/>
            <a:r>
              <a:rPr lang="en-IN" b="1" dirty="0">
                <a:solidFill>
                  <a:schemeClr val="bg2"/>
                </a:solidFill>
              </a:rPr>
              <a:t>Tech &amp; Training Stack</a:t>
            </a:r>
            <a:r>
              <a:rPr lang="en-IN" dirty="0">
                <a:solidFill>
                  <a:schemeClr val="bg2"/>
                </a:solidFill>
              </a:rPr>
              <a:t>: </a:t>
            </a:r>
            <a:r>
              <a:rPr lang="en-IN" dirty="0" err="1">
                <a:solidFill>
                  <a:schemeClr val="bg2"/>
                </a:solidFill>
              </a:rPr>
              <a:t>PyTorch</a:t>
            </a:r>
            <a:r>
              <a:rPr lang="en-IN" dirty="0">
                <a:solidFill>
                  <a:schemeClr val="bg2"/>
                </a:solidFill>
              </a:rPr>
              <a:t> 2.x (AMP FP16), </a:t>
            </a:r>
            <a:r>
              <a:rPr lang="en-IN" dirty="0" err="1">
                <a:solidFill>
                  <a:schemeClr val="bg2"/>
                </a:solidFill>
              </a:rPr>
              <a:t>AdamW</a:t>
            </a:r>
            <a:r>
              <a:rPr lang="en-IN" dirty="0">
                <a:solidFill>
                  <a:schemeClr val="bg2"/>
                </a:solidFill>
              </a:rPr>
              <a:t>, Cosine LR Decay, Charbonnier + SSIM + LPIPS loss.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821588" y="2271828"/>
            <a:ext cx="5159808" cy="3894796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2"/>
          <p:cNvSpPr txBox="1"/>
          <p:nvPr/>
        </p:nvSpPr>
        <p:spPr>
          <a:xfrm>
            <a:off x="961949" y="2436753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961948" y="2768616"/>
            <a:ext cx="4914899" cy="3308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b="1" dirty="0">
                <a:solidFill>
                  <a:schemeClr val="bg2"/>
                </a:solidFill>
              </a:rPr>
              <a:t>Dynamic Degradation Prompting</a:t>
            </a:r>
            <a:r>
              <a:rPr lang="en-IN" dirty="0">
                <a:solidFill>
                  <a:schemeClr val="bg2"/>
                </a:solidFill>
              </a:rPr>
              <a:t>: Predicts prompt vectors &amp; spatial noise maps directly from inputs without static noise assumptions.</a:t>
            </a:r>
          </a:p>
          <a:p>
            <a:pPr lvl="0"/>
            <a:r>
              <a:rPr lang="en-IN" b="1" dirty="0">
                <a:solidFill>
                  <a:schemeClr val="bg2"/>
                </a:solidFill>
              </a:rPr>
              <a:t>Phase-Preserving FFT Filtering</a:t>
            </a:r>
            <a:r>
              <a:rPr lang="en-IN" dirty="0">
                <a:solidFill>
                  <a:schemeClr val="bg2"/>
                </a:solidFill>
              </a:rPr>
              <a:t>: Operates in Fourier space to damp periodic grain noise while strictly preserving phase geometry.</a:t>
            </a:r>
          </a:p>
          <a:p>
            <a:pPr lvl="0"/>
            <a:r>
              <a:rPr lang="en-IN" b="1" dirty="0">
                <a:solidFill>
                  <a:schemeClr val="bg2"/>
                </a:solidFill>
              </a:rPr>
              <a:t>LPIPS Perceptual Fine-Tuning</a:t>
            </a:r>
            <a:r>
              <a:rPr lang="en-IN" dirty="0">
                <a:solidFill>
                  <a:schemeClr val="bg2"/>
                </a:solidFill>
              </a:rPr>
              <a:t>: Suppresses micro-grain artifacts that disrupt downstream semiconductor defect inspection.</a:t>
            </a:r>
          </a:p>
        </p:txBody>
      </p:sp>
      <p:sp>
        <p:nvSpPr>
          <p:cNvPr id="20" name="Shape 14"/>
          <p:cNvSpPr/>
          <p:nvPr/>
        </p:nvSpPr>
        <p:spPr>
          <a:xfrm>
            <a:off x="6209994" y="2301099"/>
            <a:ext cx="5220005" cy="3865525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347988" y="2488340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8" y="2768616"/>
            <a:ext cx="4781703" cy="3308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b="1" dirty="0">
                <a:solidFill>
                  <a:schemeClr val="bg2"/>
                </a:solidFill>
              </a:rPr>
              <a:t>22% LPIPS Error Reduction</a:t>
            </a:r>
            <a:r>
              <a:rPr lang="en-IN" dirty="0">
                <a:solidFill>
                  <a:schemeClr val="bg2"/>
                </a:solidFill>
              </a:rPr>
              <a:t>: Drops LPIPS from 0.2719 to 0.2122, eliminating persistent micro-grain artifacts.</a:t>
            </a:r>
          </a:p>
          <a:p>
            <a:pPr lvl="0"/>
            <a:r>
              <a:rPr lang="en-IN" b="1" dirty="0">
                <a:solidFill>
                  <a:schemeClr val="bg2"/>
                </a:solidFill>
              </a:rPr>
              <a:t>Top Benchmark Accuracy</a:t>
            </a:r>
            <a:r>
              <a:rPr lang="en-IN" dirty="0">
                <a:solidFill>
                  <a:schemeClr val="bg2"/>
                </a:solidFill>
              </a:rPr>
              <a:t>: Reaches </a:t>
            </a:r>
            <a:r>
              <a:rPr lang="en-IN" b="1" dirty="0">
                <a:solidFill>
                  <a:schemeClr val="bg2"/>
                </a:solidFill>
              </a:rPr>
              <a:t>28.47 dB PSNR &amp; 0.7712 SSIM</a:t>
            </a:r>
            <a:r>
              <a:rPr lang="en-IN" dirty="0">
                <a:solidFill>
                  <a:schemeClr val="bg2"/>
                </a:solidFill>
              </a:rPr>
              <a:t> (+5.19 dB PSNR over Bicubic baseline).</a:t>
            </a:r>
          </a:p>
          <a:p>
            <a:pPr lvl="0"/>
            <a:r>
              <a:rPr lang="en-IN" b="1" dirty="0">
                <a:solidFill>
                  <a:schemeClr val="bg2"/>
                </a:solidFill>
              </a:rPr>
              <a:t>Ultra-Fast 1-View Speed</a:t>
            </a:r>
            <a:r>
              <a:rPr lang="en-IN" dirty="0">
                <a:solidFill>
                  <a:schemeClr val="bg2"/>
                </a:solidFill>
              </a:rPr>
              <a:t>: Operates at </a:t>
            </a:r>
            <a:r>
              <a:rPr lang="en-IN" b="1" dirty="0">
                <a:solidFill>
                  <a:schemeClr val="bg2"/>
                </a:solidFill>
              </a:rPr>
              <a:t>34.3 </a:t>
            </a:r>
            <a:r>
              <a:rPr lang="en-IN" b="1" dirty="0" err="1">
                <a:solidFill>
                  <a:schemeClr val="bg2"/>
                </a:solidFill>
              </a:rPr>
              <a:t>img</a:t>
            </a:r>
            <a:r>
              <a:rPr lang="en-IN" b="1" dirty="0">
                <a:solidFill>
                  <a:schemeClr val="bg2"/>
                </a:solidFill>
              </a:rPr>
              <a:t>/sec (35.8 </a:t>
            </a:r>
            <a:r>
              <a:rPr lang="en-IN" b="1" dirty="0" err="1">
                <a:solidFill>
                  <a:schemeClr val="bg2"/>
                </a:solidFill>
              </a:rPr>
              <a:t>ms</a:t>
            </a:r>
            <a:r>
              <a:rPr lang="en-IN" b="1" dirty="0">
                <a:solidFill>
                  <a:schemeClr val="bg2"/>
                </a:solidFill>
              </a:rPr>
              <a:t>/</a:t>
            </a:r>
            <a:r>
              <a:rPr lang="en-IN" b="1" dirty="0" err="1">
                <a:solidFill>
                  <a:schemeClr val="bg2"/>
                </a:solidFill>
              </a:rPr>
              <a:t>img</a:t>
            </a:r>
            <a:r>
              <a:rPr lang="en-IN" b="1" dirty="0">
                <a:solidFill>
                  <a:schemeClr val="bg2"/>
                </a:solidFill>
              </a:rPr>
              <a:t>)</a:t>
            </a:r>
            <a:r>
              <a:rPr lang="en-IN" dirty="0">
                <a:solidFill>
                  <a:schemeClr val="bg2"/>
                </a:solidFill>
              </a:rPr>
              <a:t> on Tesla T4 GPUs to fit real-time tool execution budgets.</a:t>
            </a:r>
          </a:p>
          <a:p>
            <a:br>
              <a:rPr lang="en-IN" sz="1200" dirty="0">
                <a:solidFill>
                  <a:schemeClr val="bg2"/>
                </a:solidFill>
              </a:rPr>
            </a:b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764894" y="2307946"/>
            <a:ext cx="5264659" cy="4073652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2"/>
          <p:cNvSpPr txBox="1"/>
          <p:nvPr/>
        </p:nvSpPr>
        <p:spPr>
          <a:xfrm>
            <a:off x="961949" y="2440289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961339" y="2792088"/>
            <a:ext cx="4915510" cy="336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b="1" dirty="0">
                <a:solidFill>
                  <a:schemeClr val="bg2"/>
                </a:solidFill>
              </a:rPr>
              <a:t>Automated Wafer Defect Inspection</a:t>
            </a:r>
            <a:r>
              <a:rPr lang="en-IN" dirty="0">
                <a:solidFill>
                  <a:schemeClr val="bg2"/>
                </a:solidFill>
              </a:rPr>
              <a:t>: Converts severely degraded 128x128 noisy micrographs into clean 256x256 ground truth estimates, enabling accurate detection of sub-10nm nanoscale semiconductor defect features.</a:t>
            </a:r>
          </a:p>
          <a:p>
            <a:pPr lvl="0"/>
            <a:r>
              <a:rPr lang="en-IN" b="1" dirty="0">
                <a:solidFill>
                  <a:schemeClr val="bg2"/>
                </a:solidFill>
              </a:rPr>
              <a:t>Elimination of Inspection Bottlenecks</a:t>
            </a:r>
            <a:r>
              <a:rPr lang="en-IN" dirty="0">
                <a:solidFill>
                  <a:schemeClr val="bg2"/>
                </a:solidFill>
              </a:rPr>
              <a:t>: Ultra-fast single-pass processing restores inspection image streams in real time, preventing wafer throughput delays in high-volume fab environments.</a:t>
            </a:r>
          </a:p>
          <a:p>
            <a:pPr lvl="0"/>
            <a:r>
              <a:rPr lang="en-IN" b="1" dirty="0">
                <a:solidFill>
                  <a:schemeClr val="bg2"/>
                </a:solidFill>
              </a:rPr>
              <a:t>Domain &amp; Noise Robustness</a:t>
            </a:r>
            <a:r>
              <a:rPr lang="en-IN" dirty="0">
                <a:solidFill>
                  <a:schemeClr val="bg2"/>
                </a:solidFill>
              </a:rPr>
              <a:t>: Handles complex combined speckle and Gaussian degradations with valid out-of-bounds input intensities (&lt;0 or &gt;1) without requiring manual pre-clipping.</a:t>
            </a:r>
          </a:p>
        </p:txBody>
      </p:sp>
      <p:sp>
        <p:nvSpPr>
          <p:cNvPr id="21" name="Shape 14"/>
          <p:cNvSpPr/>
          <p:nvPr/>
        </p:nvSpPr>
        <p:spPr>
          <a:xfrm>
            <a:off x="6222946" y="2307946"/>
            <a:ext cx="5264659" cy="4070909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5"/>
          <p:cNvSpPr txBox="1"/>
          <p:nvPr/>
        </p:nvSpPr>
        <p:spPr>
          <a:xfrm>
            <a:off x="6448349" y="2497684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448348" y="2914461"/>
            <a:ext cx="4886553" cy="324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b="1" dirty="0">
                <a:solidFill>
                  <a:schemeClr val="bg2"/>
                </a:solidFill>
              </a:rPr>
              <a:t>+5.19 dB PSNR Quality Gain</a:t>
            </a:r>
            <a:r>
              <a:rPr lang="en-IN" dirty="0">
                <a:solidFill>
                  <a:schemeClr val="bg2"/>
                </a:solidFill>
              </a:rPr>
              <a:t>: Achieves </a:t>
            </a:r>
            <a:r>
              <a:rPr lang="en-IN" b="1" dirty="0">
                <a:solidFill>
                  <a:schemeClr val="bg2"/>
                </a:solidFill>
              </a:rPr>
              <a:t>28.47 dB PSNR</a:t>
            </a:r>
            <a:r>
              <a:rPr lang="en-IN" dirty="0">
                <a:solidFill>
                  <a:schemeClr val="bg2"/>
                </a:solidFill>
              </a:rPr>
              <a:t> compared to the 23.28 dB non-learning Bicubic baseline.</a:t>
            </a:r>
          </a:p>
          <a:p>
            <a:pPr lvl="0"/>
            <a:r>
              <a:rPr lang="en-IN" b="1" dirty="0">
                <a:solidFill>
                  <a:schemeClr val="bg2"/>
                </a:solidFill>
              </a:rPr>
              <a:t>+41.7% Structural Similarity Gain</a:t>
            </a:r>
            <a:r>
              <a:rPr lang="en-IN" dirty="0">
                <a:solidFill>
                  <a:schemeClr val="bg2"/>
                </a:solidFill>
              </a:rPr>
              <a:t>: Reaches </a:t>
            </a:r>
            <a:r>
              <a:rPr lang="en-IN" b="1" dirty="0">
                <a:solidFill>
                  <a:schemeClr val="bg2"/>
                </a:solidFill>
              </a:rPr>
              <a:t>0.7712 SSIM</a:t>
            </a:r>
            <a:r>
              <a:rPr lang="en-IN" dirty="0">
                <a:solidFill>
                  <a:schemeClr val="bg2"/>
                </a:solidFill>
              </a:rPr>
              <a:t> recovering sharp geometric line edges.</a:t>
            </a:r>
          </a:p>
          <a:p>
            <a:pPr lvl="0"/>
            <a:r>
              <a:rPr lang="en-IN" b="1" dirty="0">
                <a:solidFill>
                  <a:schemeClr val="bg2"/>
                </a:solidFill>
              </a:rPr>
              <a:t>22% Perceptual Grain Elimination</a:t>
            </a:r>
            <a:r>
              <a:rPr lang="en-IN" dirty="0">
                <a:solidFill>
                  <a:schemeClr val="bg2"/>
                </a:solidFill>
              </a:rPr>
              <a:t>: Lowers LPIPS error from </a:t>
            </a:r>
            <a:r>
              <a:rPr lang="en-IN" b="1" dirty="0">
                <a:solidFill>
                  <a:schemeClr val="bg2"/>
                </a:solidFill>
              </a:rPr>
              <a:t>0.2719 to 0.2122</a:t>
            </a:r>
            <a:r>
              <a:rPr lang="en-IN" dirty="0">
                <a:solidFill>
                  <a:schemeClr val="bg2"/>
                </a:solidFill>
              </a:rPr>
              <a:t>, removing persistent noise artifacts.</a:t>
            </a:r>
          </a:p>
          <a:p>
            <a:pPr lvl="0"/>
            <a:r>
              <a:rPr lang="en-IN" b="1" dirty="0">
                <a:solidFill>
                  <a:schemeClr val="bg2"/>
                </a:solidFill>
              </a:rPr>
              <a:t>34.3 </a:t>
            </a:r>
            <a:r>
              <a:rPr lang="en-IN" b="1" dirty="0" err="1">
                <a:solidFill>
                  <a:schemeClr val="bg2"/>
                </a:solidFill>
              </a:rPr>
              <a:t>img</a:t>
            </a:r>
            <a:r>
              <a:rPr lang="en-IN" b="1" dirty="0">
                <a:solidFill>
                  <a:schemeClr val="bg2"/>
                </a:solidFill>
              </a:rPr>
              <a:t>/sec Real-Time Speed</a:t>
            </a:r>
            <a:r>
              <a:rPr lang="en-IN" dirty="0">
                <a:solidFill>
                  <a:schemeClr val="bg2"/>
                </a:solidFill>
              </a:rPr>
              <a:t>: Delivers </a:t>
            </a:r>
            <a:r>
              <a:rPr lang="en-IN" b="1" dirty="0">
                <a:solidFill>
                  <a:schemeClr val="bg2"/>
                </a:solidFill>
              </a:rPr>
              <a:t>35.8 </a:t>
            </a:r>
            <a:r>
              <a:rPr lang="en-IN" b="1" dirty="0" err="1">
                <a:solidFill>
                  <a:schemeClr val="bg2"/>
                </a:solidFill>
              </a:rPr>
              <a:t>ms</a:t>
            </a:r>
            <a:r>
              <a:rPr lang="en-IN" b="1" dirty="0">
                <a:solidFill>
                  <a:schemeClr val="bg2"/>
                </a:solidFill>
              </a:rPr>
              <a:t>/image</a:t>
            </a:r>
            <a:r>
              <a:rPr lang="en-IN" dirty="0">
                <a:solidFill>
                  <a:schemeClr val="bg2"/>
                </a:solidFill>
              </a:rPr>
              <a:t> latency on Tesla T4 GPUs </a:t>
            </a:r>
            <a:r>
              <a:rPr lang="en-IN" b="1" dirty="0">
                <a:solidFill>
                  <a:schemeClr val="bg2"/>
                </a:solidFill>
              </a:rPr>
              <a:t>Lightweight Model Footprint</a:t>
            </a:r>
            <a:r>
              <a:rPr lang="en-IN" dirty="0">
                <a:solidFill>
                  <a:schemeClr val="bg2"/>
                </a:solidFill>
              </a:rPr>
              <a:t>: </a:t>
            </a:r>
            <a:r>
              <a:rPr lang="en-IN" b="1" dirty="0">
                <a:solidFill>
                  <a:schemeClr val="bg2"/>
                </a:solidFill>
              </a:rPr>
              <a:t>4.17M parameters</a:t>
            </a:r>
            <a:r>
              <a:rPr lang="en-IN" dirty="0">
                <a:solidFill>
                  <a:schemeClr val="bg2"/>
                </a:solidFill>
              </a:rPr>
              <a:t> 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414577" y="2170516"/>
            <a:ext cx="9443923" cy="2401483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514101" y="2239365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514101" y="2547787"/>
            <a:ext cx="9068406" cy="1879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b="1" dirty="0">
                <a:solidFill>
                  <a:schemeClr val="bg2"/>
                </a:solidFill>
              </a:rPr>
              <a:t>End-to-End Pipeline</a:t>
            </a:r>
            <a:r>
              <a:rPr lang="en-IN" dirty="0">
                <a:solidFill>
                  <a:schemeClr val="bg2"/>
                </a:solidFill>
              </a:rPr>
              <a:t>: Modular </a:t>
            </a:r>
            <a:r>
              <a:rPr lang="en-IN" dirty="0" err="1">
                <a:solidFill>
                  <a:schemeClr val="bg2"/>
                </a:solidFill>
              </a:rPr>
              <a:t>PyTorch</a:t>
            </a:r>
            <a:r>
              <a:rPr lang="en-IN" dirty="0">
                <a:solidFill>
                  <a:schemeClr val="bg2"/>
                </a:solidFill>
              </a:rPr>
              <a:t> framework mapping 128x128 noisy inputs to 256x256 clean targets via joint 2x super-resolution and denoising.</a:t>
            </a:r>
          </a:p>
          <a:p>
            <a:pPr lvl="0"/>
            <a:r>
              <a:rPr lang="en-IN" b="1" dirty="0">
                <a:solidFill>
                  <a:schemeClr val="bg2"/>
                </a:solidFill>
              </a:rPr>
              <a:t>Compute Feasibility</a:t>
            </a:r>
            <a:r>
              <a:rPr lang="en-IN" dirty="0">
                <a:solidFill>
                  <a:schemeClr val="bg2"/>
                </a:solidFill>
              </a:rPr>
              <a:t>: AMP FP16 precision requiring only </a:t>
            </a:r>
            <a:r>
              <a:rPr lang="en-IN" b="1" dirty="0">
                <a:solidFill>
                  <a:schemeClr val="bg2"/>
                </a:solidFill>
              </a:rPr>
              <a:t>~2.3 GB peak VRAM</a:t>
            </a:r>
            <a:r>
              <a:rPr lang="en-IN" dirty="0">
                <a:solidFill>
                  <a:schemeClr val="bg2"/>
                </a:solidFill>
              </a:rPr>
              <a:t>, running in </a:t>
            </a:r>
            <a:r>
              <a:rPr lang="en-IN" b="1" dirty="0">
                <a:solidFill>
                  <a:schemeClr val="bg2"/>
                </a:solidFill>
              </a:rPr>
              <a:t>35.8 </a:t>
            </a:r>
            <a:r>
              <a:rPr lang="en-IN" b="1" dirty="0" err="1">
                <a:solidFill>
                  <a:schemeClr val="bg2"/>
                </a:solidFill>
              </a:rPr>
              <a:t>ms</a:t>
            </a:r>
            <a:r>
              <a:rPr lang="en-IN" b="1" dirty="0">
                <a:solidFill>
                  <a:schemeClr val="bg2"/>
                </a:solidFill>
              </a:rPr>
              <a:t>/</a:t>
            </a:r>
            <a:r>
              <a:rPr lang="en-IN" b="1" dirty="0" err="1">
                <a:solidFill>
                  <a:schemeClr val="bg2"/>
                </a:solidFill>
              </a:rPr>
              <a:t>img</a:t>
            </a:r>
            <a:r>
              <a:rPr lang="en-IN" b="1" dirty="0">
                <a:solidFill>
                  <a:schemeClr val="bg2"/>
                </a:solidFill>
              </a:rPr>
              <a:t> on Tesla T4 GPUs</a:t>
            </a:r>
            <a:r>
              <a:rPr lang="en-IN" dirty="0">
                <a:solidFill>
                  <a:schemeClr val="bg2"/>
                </a:solidFill>
              </a:rPr>
              <a:t> (sub-10ms on H100 GPUs).</a:t>
            </a:r>
          </a:p>
          <a:p>
            <a:pPr lvl="0"/>
            <a:r>
              <a:rPr lang="en-IN" b="1" dirty="0">
                <a:solidFill>
                  <a:schemeClr val="bg2"/>
                </a:solidFill>
              </a:rPr>
              <a:t>Deployment Compliance</a:t>
            </a:r>
            <a:r>
              <a:rPr lang="en-IN" dirty="0">
                <a:solidFill>
                  <a:schemeClr val="bg2"/>
                </a:solidFill>
              </a:rPr>
              <a:t>: Verified CLI (infer.py) outputs unclipped float32 arrays strictly matching problem brief specifications.</a:t>
            </a:r>
          </a:p>
        </p:txBody>
      </p:sp>
      <p:sp>
        <p:nvSpPr>
          <p:cNvPr id="20" name="Shape 14"/>
          <p:cNvSpPr/>
          <p:nvPr/>
        </p:nvSpPr>
        <p:spPr>
          <a:xfrm>
            <a:off x="961949" y="4863423"/>
            <a:ext cx="3295498" cy="1322493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5"/>
          <p:cNvSpPr txBox="1"/>
          <p:nvPr/>
        </p:nvSpPr>
        <p:spPr>
          <a:xfrm>
            <a:off x="1048214" y="4980736"/>
            <a:ext cx="3169767" cy="120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Architecture</a:t>
            </a:r>
          </a:p>
          <a:p>
            <a:pPr lvl="0"/>
            <a:r>
              <a:rPr lang="en-IN" sz="1400" dirty="0" err="1">
                <a:solidFill>
                  <a:schemeClr val="bg2"/>
                </a:solidFill>
              </a:rPr>
              <a:t>PyTorch</a:t>
            </a:r>
            <a:r>
              <a:rPr lang="en-IN" sz="1400" dirty="0">
                <a:solidFill>
                  <a:schemeClr val="bg2"/>
                </a:solidFill>
              </a:rPr>
              <a:t> 2.x, CUDA 12.8, </a:t>
            </a:r>
            <a:r>
              <a:rPr lang="en-IN" sz="1400" dirty="0" err="1">
                <a:solidFill>
                  <a:schemeClr val="bg2"/>
                </a:solidFill>
              </a:rPr>
              <a:t>PyTorch</a:t>
            </a:r>
            <a:r>
              <a:rPr lang="en-IN" sz="1400" dirty="0">
                <a:solidFill>
                  <a:schemeClr val="bg2"/>
                </a:solidFill>
              </a:rPr>
              <a:t> AMP (FP16)</a:t>
            </a:r>
          </a:p>
          <a:p>
            <a:pPr lvl="0"/>
            <a:r>
              <a:rPr lang="en-IN" sz="1400" dirty="0">
                <a:solidFill>
                  <a:schemeClr val="bg2"/>
                </a:solidFill>
              </a:rPr>
              <a:t>NumPy, SciPy, </a:t>
            </a:r>
            <a:r>
              <a:rPr lang="en-IN" sz="1400" dirty="0" err="1">
                <a:solidFill>
                  <a:schemeClr val="bg2"/>
                </a:solidFill>
              </a:rPr>
              <a:t>PyWavelets</a:t>
            </a:r>
            <a:r>
              <a:rPr lang="en-IN" sz="1400" dirty="0">
                <a:solidFill>
                  <a:schemeClr val="bg2"/>
                </a:solidFill>
              </a:rPr>
              <a:t>, </a:t>
            </a:r>
            <a:r>
              <a:rPr lang="en-IN" sz="1400" dirty="0" err="1">
                <a:solidFill>
                  <a:schemeClr val="bg2"/>
                </a:solidFill>
              </a:rPr>
              <a:t>TorchVision</a:t>
            </a:r>
            <a:endParaRPr lang="en-IN" sz="14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23" name="Shape 16"/>
          <p:cNvSpPr/>
          <p:nvPr/>
        </p:nvSpPr>
        <p:spPr>
          <a:xfrm>
            <a:off x="4394606" y="4863423"/>
            <a:ext cx="3349448" cy="1322493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7"/>
          <p:cNvSpPr txBox="1"/>
          <p:nvPr/>
        </p:nvSpPr>
        <p:spPr>
          <a:xfrm>
            <a:off x="4538546" y="5096107"/>
            <a:ext cx="2471245" cy="918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Components</a:t>
            </a:r>
          </a:p>
          <a:p>
            <a:pPr lvl="0"/>
            <a:r>
              <a:rPr lang="en-IN" sz="1200" dirty="0">
                <a:solidFill>
                  <a:schemeClr val="bg2"/>
                </a:solidFill>
              </a:rPr>
              <a:t>NVIDIA Tesla T4 / RTX GPUs (Validation)</a:t>
            </a:r>
          </a:p>
          <a:p>
            <a:pPr lvl="0"/>
            <a:r>
              <a:rPr lang="en-IN" sz="1200" dirty="0">
                <a:solidFill>
                  <a:schemeClr val="bg2"/>
                </a:solidFill>
              </a:rPr>
              <a:t>NVIDIA H100 GPU (Target Evaluation)</a:t>
            </a:r>
          </a:p>
          <a:p>
            <a:pPr lvl="0"/>
            <a:r>
              <a:rPr lang="en-IN" sz="1200" dirty="0">
                <a:solidFill>
                  <a:schemeClr val="bg2"/>
                </a:solidFill>
              </a:rPr>
              <a:t>4.17M Parameters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7871580" y="4863423"/>
            <a:ext cx="3327501" cy="1322493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19"/>
          <p:cNvSpPr txBox="1"/>
          <p:nvPr/>
        </p:nvSpPr>
        <p:spPr>
          <a:xfrm>
            <a:off x="7887993" y="5120850"/>
            <a:ext cx="3095957" cy="894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 Tools</a:t>
            </a:r>
          </a:p>
          <a:p>
            <a:pPr lvl="0"/>
            <a:r>
              <a:rPr lang="en-IN" sz="1100" dirty="0">
                <a:solidFill>
                  <a:schemeClr val="bg2"/>
                </a:solidFill>
              </a:rPr>
              <a:t>Git &amp; Git LFS (Model Weights &amp; Data Tracking)</a:t>
            </a:r>
          </a:p>
          <a:p>
            <a:pPr lvl="0"/>
            <a:r>
              <a:rPr lang="en-IN" sz="1100" dirty="0" err="1">
                <a:solidFill>
                  <a:schemeClr val="bg2"/>
                </a:solidFill>
              </a:rPr>
              <a:t>Pytest</a:t>
            </a:r>
            <a:r>
              <a:rPr lang="en-IN" sz="1100" dirty="0">
                <a:solidFill>
                  <a:schemeClr val="bg2"/>
                </a:solidFill>
              </a:rPr>
              <a:t> (Automated Contract Verification)</a:t>
            </a:r>
          </a:p>
          <a:p>
            <a:pPr lvl="0"/>
            <a:r>
              <a:rPr lang="en-IN" sz="1100" dirty="0">
                <a:solidFill>
                  <a:schemeClr val="bg2"/>
                </a:solidFill>
              </a:rPr>
              <a:t>Python 3.12 (Pinned requirements.txt)</a:t>
            </a:r>
          </a:p>
          <a:p>
            <a:pPr marL="0" indent="0">
              <a:buNone/>
            </a:pPr>
            <a:endParaRPr lang="en-US" sz="1100" dirty="0">
              <a:solidFill>
                <a:schemeClr val="bg2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4" y="3487522"/>
            <a:ext cx="58424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https://github.com/IAM-MUKUND/image-restoration-project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https://www.loom.com/share/704349d0f76b4823861861da1f7d43cf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1628546" y="2457908"/>
            <a:ext cx="9601200" cy="1392632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602383"/>
            <a:ext cx="9277502" cy="1132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sz="1400" b="1" dirty="0">
                <a:solidFill>
                  <a:schemeClr val="bg2"/>
                </a:solidFill>
              </a:rPr>
              <a:t>Channel-Transposed Self-Attention</a:t>
            </a:r>
            <a:r>
              <a:rPr lang="en-IN" sz="1400" dirty="0">
                <a:solidFill>
                  <a:schemeClr val="bg2"/>
                </a:solidFill>
              </a:rPr>
              <a:t>: Applies MDTA (Multi-</a:t>
            </a:r>
            <a:r>
              <a:rPr lang="en-IN" sz="1400" dirty="0" err="1">
                <a:solidFill>
                  <a:schemeClr val="bg2"/>
                </a:solidFill>
              </a:rPr>
              <a:t>DConv</a:t>
            </a:r>
            <a:r>
              <a:rPr lang="en-IN" sz="1400" dirty="0">
                <a:solidFill>
                  <a:schemeClr val="bg2"/>
                </a:solidFill>
              </a:rPr>
              <a:t> Head Transposed Attention) across feature channels rather than spatial pixels, keeping computational complexity linear with image resolution.</a:t>
            </a:r>
          </a:p>
          <a:p>
            <a:pPr lvl="0"/>
            <a:r>
              <a:rPr lang="en-IN" sz="1400" b="1" dirty="0">
                <a:solidFill>
                  <a:schemeClr val="bg2"/>
                </a:solidFill>
              </a:rPr>
              <a:t>Sub-Pixel Convolution &amp; ICNR Init</a:t>
            </a:r>
            <a:r>
              <a:rPr lang="en-IN" sz="1400" dirty="0">
                <a:solidFill>
                  <a:schemeClr val="bg2"/>
                </a:solidFill>
              </a:rPr>
              <a:t>: Uses ICNR weight initialization for </a:t>
            </a:r>
            <a:r>
              <a:rPr lang="en-IN" sz="1400" dirty="0" err="1">
                <a:solidFill>
                  <a:schemeClr val="bg2"/>
                </a:solidFill>
              </a:rPr>
              <a:t>PixelShuffle</a:t>
            </a:r>
            <a:r>
              <a:rPr lang="en-IN" sz="1400" dirty="0">
                <a:solidFill>
                  <a:schemeClr val="bg2"/>
                </a:solidFill>
              </a:rPr>
              <a:t> </a:t>
            </a:r>
            <a:r>
              <a:rPr lang="en-IN" sz="1400" dirty="0" err="1">
                <a:solidFill>
                  <a:schemeClr val="bg2"/>
                </a:solidFill>
              </a:rPr>
              <a:t>upsampling</a:t>
            </a:r>
            <a:r>
              <a:rPr lang="en-IN" sz="1400" dirty="0">
                <a:solidFill>
                  <a:schemeClr val="bg2"/>
                </a:solidFill>
              </a:rPr>
              <a:t> to eliminate cross-channel variance imbalance and sub-pixel checkerboard artifacts.</a:t>
            </a:r>
          </a:p>
          <a:p>
            <a:pPr lvl="0"/>
            <a:r>
              <a:rPr lang="en-IN" sz="1400" b="1" dirty="0">
                <a:solidFill>
                  <a:schemeClr val="bg2"/>
                </a:solidFill>
              </a:rPr>
              <a:t>Spectral Domain Filtering</a:t>
            </a:r>
            <a:r>
              <a:rPr lang="en-IN" sz="1400" dirty="0">
                <a:solidFill>
                  <a:schemeClr val="bg2"/>
                </a:solidFill>
              </a:rPr>
              <a:t>: Employs Fourier transform (FFT) magnitude gating to filter high-frequency grain noise while strictly preserving phase geometry.</a:t>
            </a:r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1628546" y="4764938"/>
            <a:ext cx="9601200" cy="141000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5" y="4926787"/>
            <a:ext cx="9277502" cy="1141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sz="1400" b="1" dirty="0">
                <a:solidFill>
                  <a:schemeClr val="bg2"/>
                </a:solidFill>
              </a:rPr>
              <a:t>Ref 1</a:t>
            </a:r>
            <a:r>
              <a:rPr lang="en-IN" sz="1400" dirty="0">
                <a:solidFill>
                  <a:schemeClr val="bg2"/>
                </a:solidFill>
              </a:rPr>
              <a:t>: Zamir et al., </a:t>
            </a:r>
            <a:r>
              <a:rPr lang="en-IN" sz="1400" i="1" dirty="0">
                <a:solidFill>
                  <a:schemeClr val="bg2"/>
                </a:solidFill>
              </a:rPr>
              <a:t>"</a:t>
            </a:r>
            <a:r>
              <a:rPr lang="en-IN" sz="1400" i="1" dirty="0" err="1">
                <a:solidFill>
                  <a:schemeClr val="bg2"/>
                </a:solidFill>
              </a:rPr>
              <a:t>Restormer</a:t>
            </a:r>
            <a:r>
              <a:rPr lang="en-IN" sz="1400" i="1" dirty="0">
                <a:solidFill>
                  <a:schemeClr val="bg2"/>
                </a:solidFill>
              </a:rPr>
              <a:t>: Efficient Transformer for High-Resolution Image Restoration"</a:t>
            </a:r>
            <a:r>
              <a:rPr lang="en-IN" sz="1400" dirty="0">
                <a:solidFill>
                  <a:schemeClr val="bg2"/>
                </a:solidFill>
              </a:rPr>
              <a:t>, CVPR 2022. (</a:t>
            </a:r>
            <a:r>
              <a:rPr lang="en-IN" sz="1400" dirty="0">
                <a:solidFill>
                  <a:schemeClr val="bg2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https://arxiv.org/abs/2111.09881</a:t>
            </a:r>
            <a:r>
              <a:rPr lang="en-IN" sz="1400" dirty="0">
                <a:solidFill>
                  <a:schemeClr val="bg2"/>
                </a:solidFill>
              </a:rPr>
              <a:t>)</a:t>
            </a:r>
          </a:p>
          <a:p>
            <a:pPr lvl="0"/>
            <a:r>
              <a:rPr lang="en-IN" sz="1400" b="1" dirty="0">
                <a:solidFill>
                  <a:schemeClr val="bg2"/>
                </a:solidFill>
              </a:rPr>
              <a:t>Ref 2</a:t>
            </a:r>
            <a:r>
              <a:rPr lang="en-IN" sz="1400" dirty="0">
                <a:solidFill>
                  <a:schemeClr val="bg2"/>
                </a:solidFill>
              </a:rPr>
              <a:t>: Aitken et al., </a:t>
            </a:r>
            <a:r>
              <a:rPr lang="en-IN" sz="1400" i="1" dirty="0">
                <a:solidFill>
                  <a:schemeClr val="bg2"/>
                </a:solidFill>
              </a:rPr>
              <a:t>"Checkerboard Artifact Free Sub-Pixel Convolution"</a:t>
            </a:r>
            <a:r>
              <a:rPr lang="en-IN" sz="1400" dirty="0">
                <a:solidFill>
                  <a:schemeClr val="bg2"/>
                </a:solidFill>
              </a:rPr>
              <a:t>, arXiv:1707.02937, 2017. (</a:t>
            </a:r>
            <a:r>
              <a:rPr lang="en-IN" sz="1400" dirty="0">
                <a:solidFill>
                  <a:schemeClr val="bg2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https://arxiv.org/abs/1707.02937</a:t>
            </a:r>
            <a:r>
              <a:rPr lang="en-IN" sz="1400" dirty="0">
                <a:solidFill>
                  <a:schemeClr val="bg2"/>
                </a:solidFill>
              </a:rPr>
              <a:t>)</a:t>
            </a:r>
          </a:p>
          <a:p>
            <a:pPr lvl="0"/>
            <a:r>
              <a:rPr lang="en-IN" sz="1400" b="1" dirty="0">
                <a:solidFill>
                  <a:schemeClr val="bg2"/>
                </a:solidFill>
              </a:rPr>
              <a:t>Ref 3</a:t>
            </a:r>
            <a:r>
              <a:rPr lang="en-IN" sz="1400" dirty="0">
                <a:solidFill>
                  <a:schemeClr val="bg2"/>
                </a:solidFill>
              </a:rPr>
              <a:t>: Zhang et al., </a:t>
            </a:r>
            <a:r>
              <a:rPr lang="en-IN" sz="1400" i="1" dirty="0">
                <a:solidFill>
                  <a:schemeClr val="bg2"/>
                </a:solidFill>
              </a:rPr>
              <a:t>"Designing a Practical Degradation Model for Deep Image Super-Resolution"</a:t>
            </a:r>
            <a:r>
              <a:rPr lang="en-IN" sz="1400" dirty="0">
                <a:solidFill>
                  <a:schemeClr val="bg2"/>
                </a:solidFill>
              </a:rPr>
              <a:t>, ICCV 2021. (</a:t>
            </a:r>
            <a:r>
              <a:rPr lang="en-IN" sz="1400" dirty="0">
                <a:solidFill>
                  <a:schemeClr val="bg2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https://arxiv.org/abs/2103.14006</a:t>
            </a:r>
            <a:r>
              <a:rPr lang="en-IN" sz="1400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1003</Words>
  <Application>Microsoft Office PowerPoint</Application>
  <PresentationFormat>Widescreen</PresentationFormat>
  <Paragraphs>105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Mukund Vinayak</cp:lastModifiedBy>
  <cp:revision>3</cp:revision>
  <dcterms:created xsi:type="dcterms:W3CDTF">2026-01-15T05:38:47Z</dcterms:created>
  <dcterms:modified xsi:type="dcterms:W3CDTF">2026-08-16T17:55:32Z</dcterms:modified>
</cp:coreProperties>
</file>