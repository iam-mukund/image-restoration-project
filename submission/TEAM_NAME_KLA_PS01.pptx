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7a3ab84da344f1" /><Relationship Type="http://schemas.openxmlformats.org/officeDocument/2006/relationships/extended-properties" Target="/docProps/app.xml" Id="R704ce90dd5894adc" /><Relationship Type="http://schemas.openxmlformats.org/officeDocument/2006/relationships/officeDocument" Target="/ppt/presentation.xml" Id="R6518adacf86e48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f7d93378354db5"/>
  </p:sldMasterIdLst>
  <p:notesMasterIdLst>
    <p:notesMasterId xmlns:r="http://schemas.openxmlformats.org/officeDocument/2006/relationships" r:id="Rf17f75eb7d8d4a5b"/>
  </p:notesMasterIdLst>
  <p:sldIdLst>
    <p:sldId xmlns:r="http://schemas.openxmlformats.org/officeDocument/2006/relationships" id="256" r:id="R306cbd1efbbe43b0"/>
    <p:sldId xmlns:r="http://schemas.openxmlformats.org/officeDocument/2006/relationships" id="257" r:id="R48b6b2724d3d4745"/>
    <p:sldId xmlns:r="http://schemas.openxmlformats.org/officeDocument/2006/relationships" id="258" r:id="R1f21ecf4f0164524"/>
    <p:sldId xmlns:r="http://schemas.openxmlformats.org/officeDocument/2006/relationships" id="259" r:id="R596c58ee56d443ac"/>
    <p:sldId xmlns:r="http://schemas.openxmlformats.org/officeDocument/2006/relationships" id="260" r:id="R363a4eb8f9f64574"/>
    <p:sldId xmlns:r="http://schemas.openxmlformats.org/officeDocument/2006/relationships" id="261" r:id="Rea46ca7f2f4d4f37"/>
    <p:sldId xmlns:r="http://schemas.openxmlformats.org/officeDocument/2006/relationships" id="262" r:id="R03b947c91ea8450b"/>
    <p:sldId xmlns:r="http://schemas.openxmlformats.org/officeDocument/2006/relationships" id="263" r:id="Rb650e0767fcf48a7"/>
    <p:sldId xmlns:r="http://schemas.openxmlformats.org/officeDocument/2006/relationships" id="264" r:id="R02bbbec58f0046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c79cba3b064ca6" /><Relationship Type="http://schemas.openxmlformats.org/officeDocument/2006/relationships/slideMaster" Target="/ppt/slideMasters/slideMaster1.xml" Id="Rc0f7d93378354db5" /><Relationship Type="http://schemas.openxmlformats.org/officeDocument/2006/relationships/notesMaster" Target="/ppt/notesMasters/notesMaster1.xml" Id="Rf17f75eb7d8d4a5b" /><Relationship Type="http://schemas.openxmlformats.org/officeDocument/2006/relationships/presProps" Target="/ppt/presProps.xml" Id="R68dca67418dd4f80" /><Relationship Type="http://schemas.openxmlformats.org/officeDocument/2006/relationships/viewProps" Target="/ppt/viewProps.xml" Id="Re4aad3f062a845af" /><Relationship Type="http://schemas.openxmlformats.org/officeDocument/2006/relationships/tableStyles" Target="/ppt/tableStyles.xml" Id="R781cf9dcdf354aba" /><Relationship Type="http://schemas.openxmlformats.org/officeDocument/2006/relationships/slide" Target="/ppt/slides/slide1.xml" Id="R306cbd1efbbe43b0" /><Relationship Type="http://schemas.openxmlformats.org/officeDocument/2006/relationships/slide" Target="/ppt/slides/slide2.xml" Id="R48b6b2724d3d4745" /><Relationship Type="http://schemas.openxmlformats.org/officeDocument/2006/relationships/slide" Target="/ppt/slides/slide3.xml" Id="R1f21ecf4f0164524" /><Relationship Type="http://schemas.openxmlformats.org/officeDocument/2006/relationships/slide" Target="/ppt/slides/slide4.xml" Id="R596c58ee56d443ac" /><Relationship Type="http://schemas.openxmlformats.org/officeDocument/2006/relationships/slide" Target="/ppt/slides/slide5.xml" Id="R363a4eb8f9f64574" /><Relationship Type="http://schemas.openxmlformats.org/officeDocument/2006/relationships/slide" Target="/ppt/slides/slide6.xml" Id="Rea46ca7f2f4d4f37" /><Relationship Type="http://schemas.openxmlformats.org/officeDocument/2006/relationships/slide" Target="/ppt/slides/slide7.xml" Id="R03b947c91ea8450b" /><Relationship Type="http://schemas.openxmlformats.org/officeDocument/2006/relationships/slide" Target="/ppt/slides/slide8.xml" Id="Rb650e0767fcf48a7" /><Relationship Type="http://schemas.openxmlformats.org/officeDocument/2006/relationships/slide" Target="/ppt/slides/slide9.xml" Id="R02bbbec58f0046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656b5e8aed40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3ab72c19f5492b" /><Relationship Type="http://schemas.openxmlformats.org/officeDocument/2006/relationships/notesMaster" Target="/ppt/notesMasters/notesMaster1.xml" Id="R5d4a243a23894a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333b6084284552" /><Relationship Type="http://schemas.openxmlformats.org/officeDocument/2006/relationships/notesMaster" Target="/ppt/notesMasters/notesMaster1.xml" Id="R15efe362919e41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7b5266e82b42f7" /><Relationship Type="http://schemas.openxmlformats.org/officeDocument/2006/relationships/notesMaster" Target="/ppt/notesMasters/notesMaster1.xml" Id="R4bb6932e617f43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4067508e5f4c9c" /><Relationship Type="http://schemas.openxmlformats.org/officeDocument/2006/relationships/notesMaster" Target="/ppt/notesMasters/notesMaster1.xml" Id="R9c3d30f624614a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6bbc5e30aa49be" /><Relationship Type="http://schemas.openxmlformats.org/officeDocument/2006/relationships/notesMaster" Target="/ppt/notesMasters/notesMaster1.xml" Id="Rca0ce2b9869a47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c86ee39cc24078" /><Relationship Type="http://schemas.openxmlformats.org/officeDocument/2006/relationships/notesMaster" Target="/ppt/notesMasters/notesMaster1.xml" Id="Rd46550080a6345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e5d2d0ff1342ed" /><Relationship Type="http://schemas.openxmlformats.org/officeDocument/2006/relationships/notesMaster" Target="/ppt/notesMasters/notesMaster1.xml" Id="R0ce4b04fa65e48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06f290a5734506" /><Relationship Type="http://schemas.openxmlformats.org/officeDocument/2006/relationships/notesMaster" Target="/ppt/notesMasters/notesMaster1.xml" Id="R6ce59d1a2d6245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a8aebe375f4deb" /><Relationship Type="http://schemas.openxmlformats.org/officeDocument/2006/relationships/notesMaster" Target="/ppt/notesMasters/notesMaster1.xml" Id="Rb38631912cfd4a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https://i4c.in/hackathon-2026/</a:t>
            </a:r>
            <a:endParaRPr/>
          </a:p>
          <a:p xmlns:a="http://schemas.openxmlformats.org/drawingml/2006/main">
            <a:r>
              <a:t>- https://github.com/IAM-MUKUND/image-restoration-project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https://i4c.in/hackathon-2026/</a:t>
            </a:r>
            <a:endParaRPr/>
          </a:p>
          <a:p xmlns:a="http://schemas.openxmlformats.org/drawingml/2006/main">
            <a:r>
              <a:t>- repo:hackathon/semicon-image-restoration-hackathon-2026/official-resources/KLA-detailed-problem-statement.pptx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repo:artifacts/remote-runs/daf-final-submission/MODEL-CARD.md</a:t>
            </a:r>
            <a:endParaRPr/>
          </a:p>
          <a:p xmlns:a="http://schemas.openxmlformats.org/drawingml/2006/main">
            <a:r>
              <a:t>- https://arxiv.org/abs/2111.09881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repo:train.py</a:t>
            </a:r>
            <a:endParaRPr/>
          </a:p>
          <a:p xmlns:a="http://schemas.openxmlformats.org/drawingml/2006/main">
            <a:r>
              <a:t>- repo:infer.py</a:t>
            </a:r>
            <a:endParaRPr/>
          </a:p>
          <a:p xmlns:a="http://schemas.openxmlformats.org/drawingml/2006/main">
            <a:r>
              <a:t>- repo:artifacts/remote-runs/daf-final-submission/MODEL-CARD.md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repo:artifacts/remote-runs/daf-final-submission/SELECTION.json</a:t>
            </a:r>
            <a:endParaRPr/>
          </a:p>
          <a:p xmlns:a="http://schemas.openxmlformats.org/drawingml/2006/main">
            <a:r>
              <a:t>- repo:artifacts/remote-runs/daf-stage2-tta/epoch-1.json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repo:artifacts/remote-runs/daf-final-submission/INFERENCE-VALIDATION.json</a:t>
            </a:r>
            <a:endParaRPr/>
          </a:p>
          <a:p xmlns:a="http://schemas.openxmlformats.org/drawingml/2006/main">
            <a:r>
              <a:t>- repo:artifacts/remote-runs/daf-final-submission/predictions/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repo:requirements.txt</a:t>
            </a:r>
            <a:endParaRPr/>
          </a:p>
          <a:p xmlns:a="http://schemas.openxmlformats.org/drawingml/2006/main">
            <a:r>
              <a:t>- repo:infer.py</a:t>
            </a:r>
            <a:endParaRPr/>
          </a:p>
          <a:p xmlns:a="http://schemas.openxmlformats.org/drawingml/2006/main">
            <a:r>
              <a:t>- repo:artifacts/remote-runs/colab-full/benchmark_summary.json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https://github.com/IAM-MUKUND/image-restoration-project</a:t>
            </a:r>
            <a:endParaRPr/>
          </a:p>
          <a:p xmlns:a="http://schemas.openxmlformats.org/drawingml/2006/main">
            <a:r>
              <a:t>- repo:artifacts/remote-runs/daf-final-submission/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https://arxiv.org/abs/2111.09881</a:t>
            </a:r>
            <a:endParaRPr/>
          </a:p>
          <a:p xmlns:a="http://schemas.openxmlformats.org/drawingml/2006/main">
            <a:r>
              <a:t>- https://arxiv.org/abs/2108.10257</a:t>
            </a:r>
            <a:endParaRPr/>
          </a:p>
          <a:p xmlns:a="http://schemas.openxmlformats.org/drawingml/2006/main">
            <a:r>
              <a:t>- https://arxiv.org/abs/2204.04676</a:t>
            </a:r>
            <a:endParaRPr/>
          </a:p>
          <a:p xmlns:a="http://schemas.openxmlformats.org/drawingml/2006/main">
            <a:r>
              <a:t>- https://i4c.in/hackathon-2026/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954534d57548e5" /><Relationship Type="http://schemas.openxmlformats.org/officeDocument/2006/relationships/image" Target="/ppt/media/image.jpeg" Id="R37abb8f5687c4c95" /><Relationship Type="http://schemas.openxmlformats.org/officeDocument/2006/relationships/image" Target="/ppt/media/image.png" Id="R0bb9dcac58ba4455" /><Relationship Type="http://schemas.openxmlformats.org/officeDocument/2006/relationships/image" Target="/ppt/media/image2.png" Id="R7421aeea21c9410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hape 0">
            <a:extLst xmlns:a="http://schemas.openxmlformats.org/drawingml/2006/main">
              <a:ext uri="{FF2B5EF4-FFF2-40B4-BE49-F238E27FC236}">
                <a16:creationId xmlns:a16="http://schemas.microsoft.com/office/drawing/2014/main" id="{2BD26DD0-A441-CDA1-C7C4-500C0B48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bb8f5687c4c95">
            <a:alphaModFix amt="15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5" name="Shape 1">
            <a:extLst xmlns:a="http://schemas.openxmlformats.org/drawingml/2006/main">
              <a:ext uri="{FF2B5EF4-FFF2-40B4-BE49-F238E27FC236}">
                <a16:creationId xmlns:a16="http://schemas.microsoft.com/office/drawing/2014/main" id="{2896CD82-D6A3-3A0B-5BEE-489BF15E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207"/>
            <a:ext cx="11048695" cy="666598"/>
          </a:xfrm>
          <a:prstGeom xmlns:a="http://schemas.openxmlformats.org/drawingml/2006/main" prst="roundRect">
            <a:avLst>
              <a:gd name="adj" fmla="val 15677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9dcac58ba445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58500" y="381305"/>
            <a:ext cx="476402" cy="476402"/>
          </a:xfrm>
          <a:prstGeom xmlns:a="http://schemas.openxmlformats.org/drawingml/2006/main" prst="rect">
            <a:avLst/>
          </a:prstGeom>
        </p:spPr>
      </p:pic>
      <p:pic>
        <p:nvPicPr>
          <p:cNvPr id="43" name="Picture 28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1aeea21c941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356" y="381305"/>
            <a:ext cx="5745480" cy="46736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dde4b150b7471b" /><Relationship Type="http://schemas.openxmlformats.org/officeDocument/2006/relationships/slideLayout" Target="/ppt/slideLayouts/slideLayout1.xml" Id="Rf3c0d52288be47a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c0d52288be47a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eecde460e404a" /><Relationship Type="http://schemas.openxmlformats.org/officeDocument/2006/relationships/image" Target="/ppt/media/image.jpeg" Id="R32f4728b06e64f46" /><Relationship Type="http://schemas.openxmlformats.org/officeDocument/2006/relationships/image" Target="/ppt/media/image3.png" Id="Rbafc3b606b4b484a" /><Relationship Type="http://schemas.openxmlformats.org/officeDocument/2006/relationships/image" Target="/ppt/media/image4.png" Id="Raa307bbc27c24ca1" /><Relationship Type="http://schemas.openxmlformats.org/officeDocument/2006/relationships/image" Target="/ppt/media/image5.png" Id="R984244a87b494c06" /><Relationship Type="http://schemas.openxmlformats.org/officeDocument/2006/relationships/image" Target="/ppt/media/image6.png" Id="R93c06b3275334aae" /><Relationship Type="http://schemas.openxmlformats.org/officeDocument/2006/relationships/image" Target="/ppt/media/image7.png" Id="Rb6e0923660734f31" /><Relationship Type="http://schemas.openxmlformats.org/officeDocument/2006/relationships/notesSlide" Target="/ppt/notesSlides/notesSlide1.xml" Id="R3fb614b976814f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d0f7f55034675" /><Relationship Type="http://schemas.openxmlformats.org/officeDocument/2006/relationships/image" Target="/ppt/media/image.jpeg" Id="Rf80b15d4e9d04da7" /><Relationship Type="http://schemas.openxmlformats.org/officeDocument/2006/relationships/image" Target="/ppt/media/image8.png" Id="Rf3b479a45a4c4d53" /><Relationship Type="http://schemas.openxmlformats.org/officeDocument/2006/relationships/image" Target="/ppt/media/image9.png" Id="Rb119b0516a164de2" /><Relationship Type="http://schemas.openxmlformats.org/officeDocument/2006/relationships/image" Target="/ppt/media/image7.png" Id="Ra2ac795466304bf2" /><Relationship Type="http://schemas.openxmlformats.org/officeDocument/2006/relationships/notesSlide" Target="/ppt/notesSlides/notesSlide2.xml" Id="R5c59f5b6682245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aa1ae931d476e" /><Relationship Type="http://schemas.openxmlformats.org/officeDocument/2006/relationships/image" Target="/ppt/media/image.jpeg" Id="Rae571b68ad1b419a" /><Relationship Type="http://schemas.openxmlformats.org/officeDocument/2006/relationships/image" Target="/ppt/media/image2.jpeg" Id="Ra4618ff5311c49f7" /><Relationship Type="http://schemas.openxmlformats.org/officeDocument/2006/relationships/image" Target="/ppt/media/image.png" Id="Reff6f5e3de834f5b" /><Relationship Type="http://schemas.openxmlformats.org/officeDocument/2006/relationships/image" Target="/ppt/media/image10.png" Id="Rf67866355c664168" /><Relationship Type="http://schemas.openxmlformats.org/officeDocument/2006/relationships/image" Target="/ppt/media/image9.png" Id="R87c016c1696c4518" /><Relationship Type="http://schemas.openxmlformats.org/officeDocument/2006/relationships/image" Target="/ppt/media/image7.png" Id="Rd0538a8b17794fc0" /><Relationship Type="http://schemas.openxmlformats.org/officeDocument/2006/relationships/notesSlide" Target="/ppt/notesSlides/notesSlide3.xml" Id="R3774e220836545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a5ce5bed04fe3" /><Relationship Type="http://schemas.openxmlformats.org/officeDocument/2006/relationships/image" Target="/ppt/media/image.jpeg" Id="Rdea449518cca42c2" /><Relationship Type="http://schemas.openxmlformats.org/officeDocument/2006/relationships/image" Target="/ppt/media/image2.jpeg" Id="Rb322064d37774803" /><Relationship Type="http://schemas.openxmlformats.org/officeDocument/2006/relationships/image" Target="/ppt/media/image.png" Id="Re36eb4dfa7e24d5a" /><Relationship Type="http://schemas.openxmlformats.org/officeDocument/2006/relationships/image" Target="/ppt/media/image11.png" Id="R703ecfabbdd6403e" /><Relationship Type="http://schemas.openxmlformats.org/officeDocument/2006/relationships/image" Target="/ppt/media/image9.png" Id="Rcbe5e602cf9c4966" /><Relationship Type="http://schemas.openxmlformats.org/officeDocument/2006/relationships/image" Target="/ppt/media/image7.png" Id="R5121edebd3404739" /><Relationship Type="http://schemas.openxmlformats.org/officeDocument/2006/relationships/notesSlide" Target="/ppt/notesSlides/notesSlide4.xml" Id="R3e5362c0f92049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b96045aa44477" /><Relationship Type="http://schemas.openxmlformats.org/officeDocument/2006/relationships/image" Target="/ppt/media/image.jpeg" Id="R2f76b7bf43194e62" /><Relationship Type="http://schemas.openxmlformats.org/officeDocument/2006/relationships/image" Target="/ppt/media/image2.jpeg" Id="Rabbe92aee9164b66" /><Relationship Type="http://schemas.openxmlformats.org/officeDocument/2006/relationships/image" Target="/ppt/media/image.png" Id="Rce4f69ec9db647de" /><Relationship Type="http://schemas.openxmlformats.org/officeDocument/2006/relationships/image" Target="/ppt/media/image10.png" Id="R3110c499829b4379" /><Relationship Type="http://schemas.openxmlformats.org/officeDocument/2006/relationships/image" Target="/ppt/media/image9.png" Id="R847b99e84c4642bb" /><Relationship Type="http://schemas.openxmlformats.org/officeDocument/2006/relationships/image" Target="/ppt/media/image7.png" Id="R4cce6d26a64c48f9" /><Relationship Type="http://schemas.openxmlformats.org/officeDocument/2006/relationships/notesSlide" Target="/ppt/notesSlides/notesSlide5.xml" Id="Rf135f5dd116b4c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800c44c2546cc" /><Relationship Type="http://schemas.openxmlformats.org/officeDocument/2006/relationships/image" Target="/ppt/media/image.jpeg" Id="Rc60a7929d9004988" /><Relationship Type="http://schemas.openxmlformats.org/officeDocument/2006/relationships/image" Target="/ppt/media/image2.jpeg" Id="R121af79bb02e4e3d" /><Relationship Type="http://schemas.openxmlformats.org/officeDocument/2006/relationships/image" Target="/ppt/media/image.png" Id="R0bce81db9ff2459e" /><Relationship Type="http://schemas.openxmlformats.org/officeDocument/2006/relationships/image" Target="/ppt/media/image12.png" Id="R7036d8816a514f24" /><Relationship Type="http://schemas.openxmlformats.org/officeDocument/2006/relationships/image" Target="/ppt/media/image13.png" Id="Rb6be71f1fdd94541" /><Relationship Type="http://schemas.openxmlformats.org/officeDocument/2006/relationships/image" Target="/ppt/media/image14.png" Id="R4dbd5315636f4988" /><Relationship Type="http://schemas.openxmlformats.org/officeDocument/2006/relationships/image" Target="/ppt/media/image9.png" Id="R371f0adf291e4ef1" /><Relationship Type="http://schemas.openxmlformats.org/officeDocument/2006/relationships/image" Target="/ppt/media/image7.png" Id="Rf4fa3dfd6a904e91" /><Relationship Type="http://schemas.openxmlformats.org/officeDocument/2006/relationships/notesSlide" Target="/ppt/notesSlides/notesSlide6.xml" Id="R9ac2f275502242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19d0f41a546d9" /><Relationship Type="http://schemas.openxmlformats.org/officeDocument/2006/relationships/image" Target="/ppt/media/image.jpeg" Id="R97ce22553a5547e6" /><Relationship Type="http://schemas.openxmlformats.org/officeDocument/2006/relationships/image" Target="/ppt/media/image2.jpeg" Id="R3a23bce9cb914a85" /><Relationship Type="http://schemas.openxmlformats.org/officeDocument/2006/relationships/image" Target="/ppt/media/image.png" Id="R6749145717ea4815" /><Relationship Type="http://schemas.openxmlformats.org/officeDocument/2006/relationships/image" Target="/ppt/media/image15.png" Id="R619438906a154849" /><Relationship Type="http://schemas.openxmlformats.org/officeDocument/2006/relationships/image" Target="/ppt/media/image16.png" Id="R7ff1917362944d77" /><Relationship Type="http://schemas.openxmlformats.org/officeDocument/2006/relationships/image" Target="/ppt/media/image17.png" Id="Rb8dcb413e0c544e0" /><Relationship Type="http://schemas.openxmlformats.org/officeDocument/2006/relationships/image" Target="/ppt/media/image18.png" Id="Rb1d255be63114883" /><Relationship Type="http://schemas.openxmlformats.org/officeDocument/2006/relationships/image" Target="/ppt/media/image9.png" Id="Reee2386ba11448f3" /><Relationship Type="http://schemas.openxmlformats.org/officeDocument/2006/relationships/image" Target="/ppt/media/image7.png" Id="R27c6f9b2a0f74f1f" /><Relationship Type="http://schemas.openxmlformats.org/officeDocument/2006/relationships/notesSlide" Target="/ppt/notesSlides/notesSlide7.xml" Id="Rb678f25fc84b4c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57374e941455c" /><Relationship Type="http://schemas.openxmlformats.org/officeDocument/2006/relationships/image" Target="/ppt/media/image.jpeg" Id="R4d02fd7fd7f947d7" /><Relationship Type="http://schemas.openxmlformats.org/officeDocument/2006/relationships/image" Target="/ppt/media/image2.jpeg" Id="R3bdb526acfc743e3" /><Relationship Type="http://schemas.openxmlformats.org/officeDocument/2006/relationships/image" Target="/ppt/media/image.png" Id="R534cc2e1d64349d7" /><Relationship Type="http://schemas.openxmlformats.org/officeDocument/2006/relationships/image" Target="/ppt/media/image19.png" Id="R96ee59a2afaf4df2" /><Relationship Type="http://schemas.openxmlformats.org/officeDocument/2006/relationships/image" Target="/ppt/media/image20.png" Id="Rbf5093d877c44c49" /><Relationship Type="http://schemas.openxmlformats.org/officeDocument/2006/relationships/image" Target="/ppt/media/image21.png" Id="R2c386815d3ca4308" /><Relationship Type="http://schemas.openxmlformats.org/officeDocument/2006/relationships/image" Target="/ppt/media/image22.png" Id="Rc2505ad8d64244ac" /><Relationship Type="http://schemas.openxmlformats.org/officeDocument/2006/relationships/image" Target="/ppt/media/image9.png" Id="R2952cbe116044069" /><Relationship Type="http://schemas.openxmlformats.org/officeDocument/2006/relationships/image" Target="/ppt/media/image7.png" Id="Rd6f6d9e50db44c82" /><Relationship Type="http://schemas.openxmlformats.org/officeDocument/2006/relationships/notesSlide" Target="/ppt/notesSlides/notesSlide8.xml" Id="R6c811a6b28a94a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7506bc36c4a3f" /><Relationship Type="http://schemas.openxmlformats.org/officeDocument/2006/relationships/image" Target="/ppt/media/image.jpeg" Id="R11ee1eb1df5448c6" /><Relationship Type="http://schemas.openxmlformats.org/officeDocument/2006/relationships/image" Target="/ppt/media/image2.jpeg" Id="Rc308ba89d21e4b25" /><Relationship Type="http://schemas.openxmlformats.org/officeDocument/2006/relationships/image" Target="/ppt/media/image.png" Id="R89af152013b74f38" /><Relationship Type="http://schemas.openxmlformats.org/officeDocument/2006/relationships/image" Target="/ppt/media/image23.png" Id="R2d1aa7afb7ad4396" /><Relationship Type="http://schemas.openxmlformats.org/officeDocument/2006/relationships/image" Target="/ppt/media/image24.png" Id="Rb971b4f2a39f424a" /><Relationship Type="http://schemas.openxmlformats.org/officeDocument/2006/relationships/image" Target="/ppt/media/image9.png" Id="Rc80be0ac5243457b" /><Relationship Type="http://schemas.openxmlformats.org/officeDocument/2006/relationships/image" Target="/ppt/media/image7.png" Id="R587122b8ff534855" /><Relationship Type="http://schemas.openxmlformats.org/officeDocument/2006/relationships/notesSlide" Target="/ppt/notesSlides/notesSlide9.xml" Id="Rcbc1f9c679cb4af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7D86ACE-D370-4228-BD49-B3F039E4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4728b06e64f46">
            <a:alphaModFix amt="15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C605C55A-BFC4-4C4C-8F21-ACDAF174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47549" cy="2761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E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B2BC70EA-C58A-4DD2-9232-7515380F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405" y="1170432"/>
            <a:ext cx="2438705" cy="362102"/>
          </a:xfrm>
          <a:prstGeom xmlns:a="http://schemas.openxmlformats.org/drawingml/2006/main" prst="roundRect">
            <a:avLst>
              <a:gd name="adj" fmla="val 26582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2CAA2AAF-D596-4E2A-A7BF-60E54783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2671"/>
            <a:ext cx="11048695" cy="2171700"/>
          </a:xfrm>
          <a:prstGeom xmlns:a="http://schemas.openxmlformats.org/drawingml/2006/main" prst="roundRect">
            <a:avLst>
              <a:gd name="adj" fmla="val 2216"/>
            </a:avLst>
          </a:prstGeom>
          <a:solidFill xmlns:a="http://schemas.openxmlformats.org/drawingml/2006/main">
            <a:srgbClr val="273383">
              <a:alpha val="30000"/>
            </a:srgbClr>
          </a:solidFill>
          <a:ln xmlns:a="http://schemas.openxmlformats.org/drawingml/2006/main" w="12700">
            <a:solidFill>
              <a:srgbClr val="88E555">
                <a:alpha val="20000"/>
              </a:srgbClr>
            </a:solidFill>
            <a:prstDash val="solid"/>
          </a:ln>
          <a:effectLst xmlns:a="http://schemas.openxmlformats.org/drawingml/2006/main"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2BBDE796-174C-4CF5-8DAC-63368E71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" y="1721815"/>
            <a:ext cx="1104595" cy="437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8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31EF061E-5540-4834-A2F4-F26AC925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325" y="1721815"/>
            <a:ext cx="2210105" cy="437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8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B5F0D2E5-6309-44F8-9C01-3837A564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858" y="1721815"/>
            <a:ext cx="4419295" cy="437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8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16E1558E-7920-4ABA-8742-F93BB5B7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838" y="1721815"/>
            <a:ext cx="3314700" cy="437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8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1613F36B-6C54-44A0-A2A0-54DE03BB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" y="2604211"/>
            <a:ext cx="110459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AB7F54E8-C88C-44DD-A153-BE530CF1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325" y="2604211"/>
            <a:ext cx="221010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7C850ABD-CF34-4F88-941C-AE6F1FA1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858" y="2604211"/>
            <a:ext cx="441929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FD11BDA9-ECE2-47F2-9EEE-74B06FC4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838" y="2604211"/>
            <a:ext cx="33147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2A1F1528-47B0-490C-957F-05DC2D67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" y="2606954"/>
            <a:ext cx="11030407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E26513C5-02DE-4EEA-9214-244F2179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" y="3055010"/>
            <a:ext cx="110459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DE4C9DF7-809F-4A34-BF67-A4F7A1A1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325" y="3055010"/>
            <a:ext cx="221010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CF88FF6A-D0AD-4680-A47D-EDAFBE5B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858" y="3055010"/>
            <a:ext cx="441929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C9B76988-4501-47E9-9A77-EA984EB6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838" y="3055010"/>
            <a:ext cx="33147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1210A9BC-B767-4BA1-B5E6-5254E989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" y="3510382"/>
            <a:ext cx="110459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F90D8982-B152-4549-9C72-C1EDBBE8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325" y="3510382"/>
            <a:ext cx="221010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9AAB2A50-19CD-4296-ADED-6DFC6A5B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858" y="3510382"/>
            <a:ext cx="441929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A7F7BC6B-D25E-4F13-97BE-B265CFA2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838" y="3510382"/>
            <a:ext cx="33147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0E3D5305-5063-4B50-B86A-0713E032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" y="3517697"/>
            <a:ext cx="11030407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0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c3b606b4b484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4151376"/>
            <a:ext cx="133502" cy="133502"/>
          </a:xfrm>
          <a:prstGeom xmlns:a="http://schemas.openxmlformats.org/drawingml/2006/main" prst="rect">
            <a:avLst/>
          </a:prstGeom>
        </p:spPr>
      </p:pic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151990DF-BA4C-4A3F-ACA7-4E44AEE1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8" y="4120286"/>
            <a:ext cx="5574182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i="1">
                <a:solidFill>
                  <a:srgbClr val="AAAAAA"/>
                </a:solidFill>
                <a:latin typeface="Poppins"/>
                <a:ea typeface="Poppins"/>
                <a:cs typeface="Poppins"/>
              </a:rPr>
              <a:t>A team can have up to 4 members including the team leader. Add rows if necessary.</a:t>
            </a:r>
            <a:endParaRPr sz="1000" b="1"/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F180D36E-BAC7-4565-BB5A-D961BB35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43654"/>
            <a:ext cx="11048695" cy="2029054"/>
          </a:xfrm>
          <a:prstGeom xmlns:a="http://schemas.openxmlformats.org/drawingml/2006/main" prst="roundRect">
            <a:avLst>
              <a:gd name="adj" fmla="val 2539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12700">
            <a:solidFill>
              <a:srgbClr val="1E3A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359B2A76-745E-40C6-B930-56D178E5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4" y="5048402"/>
            <a:ext cx="10649102" cy="437998"/>
          </a:xfrm>
          <a:prstGeom xmlns:a="http://schemas.openxmlformats.org/drawingml/2006/main" prst="roundRect">
            <a:avLst>
              <a:gd name="adj" fmla="val 27231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hape 26">
            <a:extLst xmlns:a="http://schemas.openxmlformats.org/drawingml/2006/main">
              <a:ext uri="{FF2B5EF4-FFF2-40B4-BE49-F238E27FC236}">
                <a16:creationId xmlns:a16="http://schemas.microsoft.com/office/drawing/2014/main" id="{A36957EE-9BA8-4ACE-A563-934B098F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4" y="5934456"/>
            <a:ext cx="5229454" cy="437998"/>
          </a:xfrm>
          <a:prstGeom xmlns:a="http://schemas.openxmlformats.org/drawingml/2006/main" prst="roundRect">
            <a:avLst>
              <a:gd name="adj" fmla="val 27231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63DE336A-76E8-4521-8C5E-6C8DD639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402" y="5934456"/>
            <a:ext cx="5229454" cy="437998"/>
          </a:xfrm>
          <a:prstGeom xmlns:a="http://schemas.openxmlformats.org/drawingml/2006/main" prst="roundRect">
            <a:avLst>
              <a:gd name="adj" fmla="val 27231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626D7813-C86F-4E46-A7B9-830A2BD1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" y="1086307"/>
            <a:ext cx="2053742" cy="381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Team Details</a:t>
            </a:r>
            <a:endParaRPr sz="21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A31D25B9-8A1C-4C53-8499-1CC59A78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895" y="1237183"/>
            <a:ext cx="110551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AEFF82"/>
                </a:solidFill>
                <a:latin typeface="Poppins"/>
                <a:ea typeface="Poppins"/>
                <a:cs typeface="Poppins"/>
              </a:rPr>
              <a:t>Team Name:</a:t>
            </a:r>
            <a:endParaRPr sz="12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0B1D7167-DAD5-48B9-B38C-94401A45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4" y="1836115"/>
            <a:ext cx="598932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AEFF82"/>
                </a:solidFill>
                <a:latin typeface="Poppins"/>
                <a:ea typeface="Poppins"/>
                <a:cs typeface="Poppins"/>
              </a:rPr>
              <a:t>SR. NO</a:t>
            </a:r>
            <a:endParaRPr sz="1000"/>
          </a:p>
        </p:txBody>
      </p:sp>
      <p:sp>
        <p:nvSpPr>
          <p:cNvPr id="37" name="Text 31">
            <a:extLst xmlns:a="http://schemas.openxmlformats.org/drawingml/2006/main">
              <a:ext uri="{FF2B5EF4-FFF2-40B4-BE49-F238E27FC236}">
                <a16:creationId xmlns:a16="http://schemas.microsoft.com/office/drawing/2014/main" id="{8E373733-4683-49EE-AA30-E27215D9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1836115"/>
            <a:ext cx="465430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AEFF82"/>
                </a:solidFill>
                <a:latin typeface="Poppins"/>
                <a:ea typeface="Poppins"/>
                <a:cs typeface="Poppins"/>
              </a:rPr>
              <a:t>ROLE</a:t>
            </a:r>
            <a:endParaRPr sz="1000"/>
          </a:p>
        </p:txBody>
      </p:sp>
      <p:sp>
        <p:nvSpPr>
          <p:cNvPr id="38" name="Text 32">
            <a:extLst xmlns:a="http://schemas.openxmlformats.org/drawingml/2006/main">
              <a:ext uri="{FF2B5EF4-FFF2-40B4-BE49-F238E27FC236}">
                <a16:creationId xmlns:a16="http://schemas.microsoft.com/office/drawing/2014/main" id="{7052FE74-EEB3-4D93-A80F-90A04341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053" y="1836115"/>
            <a:ext cx="532181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AEFF82"/>
                </a:solidFill>
                <a:latin typeface="Poppins"/>
                <a:ea typeface="Poppins"/>
                <a:cs typeface="Poppins"/>
              </a:rPr>
              <a:t>NAME</a:t>
            </a:r>
            <a:endParaRPr sz="1000"/>
          </a:p>
        </p:txBody>
      </p:sp>
      <p:sp>
        <p:nvSpPr>
          <p:cNvPr id="39" name="Text 33">
            <a:extLst xmlns:a="http://schemas.openxmlformats.org/drawingml/2006/main">
              <a:ext uri="{FF2B5EF4-FFF2-40B4-BE49-F238E27FC236}">
                <a16:creationId xmlns:a16="http://schemas.microsoft.com/office/drawing/2014/main" id="{A1F46F24-65A1-4610-A300-836CB2B0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2033" y="1836115"/>
            <a:ext cx="1313078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AEFF82"/>
                </a:solidFill>
                <a:latin typeface="Poppins"/>
                <a:ea typeface="Poppins"/>
                <a:cs typeface="Poppins"/>
              </a:rPr>
              <a:t>ACADEMIC YEAR</a:t>
            </a:r>
            <a:endParaRPr sz="1000"/>
          </a:p>
        </p:txBody>
      </p:sp>
      <p:sp>
        <p:nvSpPr>
          <p:cNvPr id="40" name="Text 34">
            <a:extLst xmlns:a="http://schemas.openxmlformats.org/drawingml/2006/main">
              <a:ext uri="{FF2B5EF4-FFF2-40B4-BE49-F238E27FC236}">
                <a16:creationId xmlns:a16="http://schemas.microsoft.com/office/drawing/2014/main" id="{83A1753F-3148-4E4B-90AA-632D272A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4" y="2270455"/>
            <a:ext cx="156362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E0E0E0"/>
                </a:solidFill>
                <a:latin typeface="Poppins"/>
                <a:ea typeface="Poppins"/>
                <a:cs typeface="Poppins"/>
              </a:rPr>
              <a:t>1</a:t>
            </a:r>
            <a:endParaRPr sz="1100"/>
          </a:p>
        </p:txBody>
      </p:sp>
      <p:sp>
        <p:nvSpPr>
          <p:cNvPr id="41" name="Text 35">
            <a:extLst xmlns:a="http://schemas.openxmlformats.org/drawingml/2006/main">
              <a:ext uri="{FF2B5EF4-FFF2-40B4-BE49-F238E27FC236}">
                <a16:creationId xmlns:a16="http://schemas.microsoft.com/office/drawing/2014/main" id="{028F6BFD-55E8-4C1F-8C4C-9E46F697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270455"/>
            <a:ext cx="1070762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0E0E0"/>
                </a:solidFill>
                <a:latin typeface="Poppins"/>
                <a:ea typeface="Poppins"/>
                <a:cs typeface="Poppins"/>
              </a:rPr>
              <a:t>Team Leader</a:t>
            </a:r>
            <a:endParaRPr sz="1100"/>
          </a:p>
        </p:txBody>
      </p:sp>
      <p:sp>
        <p:nvSpPr>
          <p:cNvPr id="42" name="Text 36">
            <a:extLst xmlns:a="http://schemas.openxmlformats.org/drawingml/2006/main">
              <a:ext uri="{FF2B5EF4-FFF2-40B4-BE49-F238E27FC236}">
                <a16:creationId xmlns:a16="http://schemas.microsoft.com/office/drawing/2014/main" id="{1D6C85A2-D997-4597-A1C1-293D7A77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4" y="2725826"/>
            <a:ext cx="194767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E0E0E0"/>
                </a:solidFill>
                <a:latin typeface="Poppins"/>
                <a:ea typeface="Poppins"/>
                <a:cs typeface="Poppins"/>
              </a:rPr>
              <a:t>2</a:t>
            </a:r>
            <a:endParaRPr sz="1100"/>
          </a:p>
        </p:txBody>
      </p:sp>
      <p:sp>
        <p:nvSpPr>
          <p:cNvPr id="43" name="Text 37">
            <a:extLst xmlns:a="http://schemas.openxmlformats.org/drawingml/2006/main">
              <a:ext uri="{FF2B5EF4-FFF2-40B4-BE49-F238E27FC236}">
                <a16:creationId xmlns:a16="http://schemas.microsoft.com/office/drawing/2014/main" id="{03FE8565-90AC-4A2D-8F3F-1E895412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725826"/>
            <a:ext cx="804672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E0E0E0"/>
                </a:solidFill>
                <a:latin typeface="Poppins"/>
                <a:ea typeface="Poppins"/>
                <a:cs typeface="Poppins"/>
              </a:rPr>
              <a:t>Member 1</a:t>
            </a:r>
            <a:endParaRPr sz="1100"/>
          </a:p>
        </p:txBody>
      </p:sp>
      <p:sp>
        <p:nvSpPr>
          <p:cNvPr id="44" name="Text 38">
            <a:extLst xmlns:a="http://schemas.openxmlformats.org/drawingml/2006/main">
              <a:ext uri="{FF2B5EF4-FFF2-40B4-BE49-F238E27FC236}">
                <a16:creationId xmlns:a16="http://schemas.microsoft.com/office/drawing/2014/main" id="{A3880E80-286E-43E4-9717-8D3E5927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4" y="3181198"/>
            <a:ext cx="194767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E0E0E0"/>
                </a:solidFill>
                <a:latin typeface="Poppins"/>
                <a:ea typeface="Poppins"/>
                <a:cs typeface="Poppins"/>
              </a:rPr>
              <a:t>3</a:t>
            </a:r>
            <a:endParaRPr sz="1100"/>
          </a:p>
        </p:txBody>
      </p:sp>
      <p:sp>
        <p:nvSpPr>
          <p:cNvPr id="45" name="Text 39">
            <a:extLst xmlns:a="http://schemas.openxmlformats.org/drawingml/2006/main">
              <a:ext uri="{FF2B5EF4-FFF2-40B4-BE49-F238E27FC236}">
                <a16:creationId xmlns:a16="http://schemas.microsoft.com/office/drawing/2014/main" id="{2BD848B4-394B-43BD-9752-468AE10E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181198"/>
            <a:ext cx="842162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E0E0E0"/>
                </a:solidFill>
                <a:latin typeface="Poppins"/>
                <a:ea typeface="Poppins"/>
                <a:cs typeface="Poppins"/>
              </a:rPr>
              <a:t>Member 2</a:t>
            </a:r>
            <a:endParaRPr sz="1100"/>
          </a:p>
        </p:txBody>
      </p:sp>
      <p:sp>
        <p:nvSpPr>
          <p:cNvPr id="46" name="Text 40">
            <a:extLst xmlns:a="http://schemas.openxmlformats.org/drawingml/2006/main">
              <a:ext uri="{FF2B5EF4-FFF2-40B4-BE49-F238E27FC236}">
                <a16:creationId xmlns:a16="http://schemas.microsoft.com/office/drawing/2014/main" id="{F078605D-7E1E-476A-B202-4EF07CA9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4" y="3636569"/>
            <a:ext cx="203911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E0E0E0"/>
                </a:solidFill>
                <a:latin typeface="Poppins"/>
                <a:ea typeface="Poppins"/>
                <a:cs typeface="Poppins"/>
              </a:rPr>
              <a:t>4</a:t>
            </a:r>
            <a:endParaRPr sz="1100"/>
          </a:p>
        </p:txBody>
      </p:sp>
      <p:sp>
        <p:nvSpPr>
          <p:cNvPr id="47" name="Text 41">
            <a:extLst xmlns:a="http://schemas.openxmlformats.org/drawingml/2006/main">
              <a:ext uri="{FF2B5EF4-FFF2-40B4-BE49-F238E27FC236}">
                <a16:creationId xmlns:a16="http://schemas.microsoft.com/office/drawing/2014/main" id="{2EBC4C7B-E597-4E79-88F7-178E06D0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636569"/>
            <a:ext cx="842162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E0E0E0"/>
                </a:solidFill>
                <a:latin typeface="Poppins"/>
                <a:ea typeface="Poppins"/>
                <a:cs typeface="Poppins"/>
              </a:rPr>
              <a:t>Member 3</a:t>
            </a:r>
            <a:endParaRPr sz="1100"/>
          </a:p>
        </p:txBody>
      </p:sp>
      <p:pic>
        <p:nvPicPr>
          <p:cNvPr id="12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07bbc27c24ca1"/>
          <a:srcRect xmlns:a="http://schemas.openxmlformats.org/drawingml/2006/main" l="-2994" t="0" r="-2994" b="0"/>
          <a:stretch xmlns:a="http://schemas.openxmlformats.org/drawingml/2006/main"/>
        </p:blipFill>
        <p:spPr>
          <a:xfrm xmlns:a="http://schemas.openxmlformats.org/drawingml/2006/main">
            <a:off x="771754" y="4772254"/>
            <a:ext cx="161849" cy="152705"/>
          </a:xfrm>
          <a:prstGeom xmlns:a="http://schemas.openxmlformats.org/drawingml/2006/main" prst="rect">
            <a:avLst/>
          </a:prstGeom>
        </p:spPr>
      </p:pic>
      <p:sp>
        <p:nvSpPr>
          <p:cNvPr id="49" name="Text 42">
            <a:extLst xmlns:a="http://schemas.openxmlformats.org/drawingml/2006/main">
              <a:ext uri="{FF2B5EF4-FFF2-40B4-BE49-F238E27FC236}">
                <a16:creationId xmlns:a16="http://schemas.microsoft.com/office/drawing/2014/main" id="{E65EF0CB-AA9A-4DA7-A7C2-82877400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8" y="4743907"/>
            <a:ext cx="134325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AEFF82"/>
                </a:solidFill>
                <a:latin typeface="Poppins"/>
                <a:ea typeface="Poppins"/>
                <a:cs typeface="Poppins"/>
              </a:rPr>
              <a:t>COLLEGE NAME</a:t>
            </a:r>
            <a:endParaRPr sz="1200"/>
          </a:p>
        </p:txBody>
      </p:sp>
      <p:pic>
        <p:nvPicPr>
          <p:cNvPr id="12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244a87b494c06"/>
          <a:srcRect xmlns:a="http://schemas.openxmlformats.org/drawingml/2006/main" l="-2994" t="0" r="-2994" b="0"/>
          <a:stretch xmlns:a="http://schemas.openxmlformats.org/drawingml/2006/main"/>
        </p:blipFill>
        <p:spPr>
          <a:xfrm xmlns:a="http://schemas.openxmlformats.org/drawingml/2006/main">
            <a:off x="771754" y="5658307"/>
            <a:ext cx="161849" cy="152705"/>
          </a:xfrm>
          <a:prstGeom xmlns:a="http://schemas.openxmlformats.org/drawingml/2006/main" prst="rect">
            <a:avLst/>
          </a:prstGeom>
        </p:spPr>
      </p:pic>
      <p:sp>
        <p:nvSpPr>
          <p:cNvPr id="51" name="Text 43">
            <a:extLst xmlns:a="http://schemas.openxmlformats.org/drawingml/2006/main">
              <a:ext uri="{FF2B5EF4-FFF2-40B4-BE49-F238E27FC236}">
                <a16:creationId xmlns:a16="http://schemas.microsoft.com/office/drawing/2014/main" id="{7B285E46-C332-4418-95B7-EC7FB200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8" y="5629046"/>
            <a:ext cx="2772461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AEFF82"/>
                </a:solidFill>
                <a:latin typeface="Poppins"/>
                <a:ea typeface="Poppins"/>
                <a:cs typeface="Poppins"/>
              </a:rPr>
              <a:t>TEAM LEADER CONTACT NUMBER</a:t>
            </a:r>
            <a:endParaRPr sz="1200"/>
          </a:p>
        </p:txBody>
      </p:sp>
      <p:pic>
        <p:nvPicPr>
          <p:cNvPr id="12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06b3275334aae"/>
          <a:srcRect xmlns:a="http://schemas.openxmlformats.org/drawingml/2006/main" l="-2994" t="0" r="-2994" b="0"/>
          <a:stretch xmlns:a="http://schemas.openxmlformats.org/drawingml/2006/main"/>
        </p:blipFill>
        <p:spPr>
          <a:xfrm xmlns:a="http://schemas.openxmlformats.org/drawingml/2006/main">
            <a:off x="6191402" y="5658307"/>
            <a:ext cx="161849" cy="152705"/>
          </a:xfrm>
          <a:prstGeom xmlns:a="http://schemas.openxmlformats.org/drawingml/2006/main" prst="rect">
            <a:avLst/>
          </a:prstGeom>
        </p:spPr>
      </p:pic>
      <p:sp>
        <p:nvSpPr>
          <p:cNvPr id="53" name="Text 44">
            <a:extLst xmlns:a="http://schemas.openxmlformats.org/drawingml/2006/main">
              <a:ext uri="{FF2B5EF4-FFF2-40B4-BE49-F238E27FC236}">
                <a16:creationId xmlns:a16="http://schemas.microsoft.com/office/drawing/2014/main" id="{2F2ACF7A-15F4-450A-9D69-7D242B9B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146" y="5629046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AEFF82"/>
                </a:solidFill>
                <a:latin typeface="Poppins"/>
                <a:ea typeface="Poppins"/>
                <a:cs typeface="Poppins"/>
              </a:rPr>
              <a:t>TEAM LEADER EMAIL ADDRESS</a:t>
            </a:r>
            <a:endParaRPr sz="1200"/>
          </a:p>
        </p:txBody>
      </p:sp>
      <p:sp>
        <p:nvSpPr>
          <p:cNvPr id="54" name="Text 45">
            <a:extLst xmlns:a="http://schemas.openxmlformats.org/drawingml/2006/main">
              <a:ext uri="{FF2B5EF4-FFF2-40B4-BE49-F238E27FC236}">
                <a16:creationId xmlns:a16="http://schemas.microsoft.com/office/drawing/2014/main" id="{276C13FD-ED2A-4364-B4EA-19EEA207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254" y="1256386"/>
            <a:ext cx="1719986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TEAM NAME REQUIRED</a:t>
            </a:r>
            <a:endParaRPr sz="1000"/>
          </a:p>
        </p:txBody>
      </p:sp>
      <p:sp>
        <p:nvSpPr>
          <p:cNvPr id="55" name="Text 46">
            <a:extLst xmlns:a="http://schemas.openxmlformats.org/drawingml/2006/main">
              <a:ext uri="{FF2B5EF4-FFF2-40B4-BE49-F238E27FC236}">
                <a16:creationId xmlns:a16="http://schemas.microsoft.com/office/drawing/2014/main" id="{6199E08F-036E-487F-8DB7-04AA478E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053" y="2270455"/>
            <a:ext cx="1089965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i="1">
                <a:solidFill>
                  <a:srgbClr val="E0E0E0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Vishnu</a:t>
            </a:r>
            <a:endParaRPr sz="1100"/>
          </a:p>
        </p:txBody>
      </p:sp>
      <p:sp>
        <p:nvSpPr>
          <p:cNvPr id="56" name="Text 47">
            <a:extLst xmlns:a="http://schemas.openxmlformats.org/drawingml/2006/main">
              <a:ext uri="{FF2B5EF4-FFF2-40B4-BE49-F238E27FC236}">
                <a16:creationId xmlns:a16="http://schemas.microsoft.com/office/drawing/2014/main" id="{10EDB844-1C53-426D-B806-07FEBA17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2033" y="2270455"/>
            <a:ext cx="975665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i="1">
                <a:solidFill>
                  <a:srgbClr val="E0E0E0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YEAR REQUIRED</a:t>
            </a:r>
            <a:endParaRPr sz="1100"/>
          </a:p>
        </p:txBody>
      </p:sp>
      <p:sp>
        <p:nvSpPr>
          <p:cNvPr id="57" name="Text 48">
            <a:extLst xmlns:a="http://schemas.openxmlformats.org/drawingml/2006/main">
              <a:ext uri="{FF2B5EF4-FFF2-40B4-BE49-F238E27FC236}">
                <a16:creationId xmlns:a16="http://schemas.microsoft.com/office/drawing/2014/main" id="{565A8DD1-2BD6-4351-B722-B8070F3D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053" y="2725826"/>
            <a:ext cx="1089965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i="1">
                <a:solidFill>
                  <a:srgbClr val="E0E0E0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Not supplied</a:t>
            </a:r>
            <a:endParaRPr sz="1100"/>
          </a:p>
        </p:txBody>
      </p:sp>
      <p:sp>
        <p:nvSpPr>
          <p:cNvPr id="58" name="Text 49">
            <a:extLst xmlns:a="http://schemas.openxmlformats.org/drawingml/2006/main">
              <a:ext uri="{FF2B5EF4-FFF2-40B4-BE49-F238E27FC236}">
                <a16:creationId xmlns:a16="http://schemas.microsoft.com/office/drawing/2014/main" id="{ECA140B3-ECE7-49BC-BC70-3016CA1F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2033" y="2725826"/>
            <a:ext cx="975665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i="1">
                <a:solidFill>
                  <a:srgbClr val="E0E0E0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-</a:t>
            </a:r>
            <a:endParaRPr sz="1100"/>
          </a:p>
        </p:txBody>
      </p:sp>
      <p:sp>
        <p:nvSpPr>
          <p:cNvPr id="59" name="Text 50">
            <a:extLst xmlns:a="http://schemas.openxmlformats.org/drawingml/2006/main">
              <a:ext uri="{FF2B5EF4-FFF2-40B4-BE49-F238E27FC236}">
                <a16:creationId xmlns:a16="http://schemas.microsoft.com/office/drawing/2014/main" id="{D96A8953-3AF0-47BF-8ECF-30380132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053" y="3181198"/>
            <a:ext cx="1089965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i="1">
                <a:solidFill>
                  <a:srgbClr val="E0E0E0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Not supplied</a:t>
            </a:r>
            <a:endParaRPr sz="1100"/>
          </a:p>
        </p:txBody>
      </p:sp>
      <p:sp>
        <p:nvSpPr>
          <p:cNvPr id="60" name="Text 51">
            <a:extLst xmlns:a="http://schemas.openxmlformats.org/drawingml/2006/main">
              <a:ext uri="{FF2B5EF4-FFF2-40B4-BE49-F238E27FC236}">
                <a16:creationId xmlns:a16="http://schemas.microsoft.com/office/drawing/2014/main" id="{B1EFBE5B-6743-42ED-9D7F-BA8E59B9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2033" y="3181198"/>
            <a:ext cx="975665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i="1">
                <a:solidFill>
                  <a:srgbClr val="E0E0E0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-</a:t>
            </a:r>
            <a:endParaRPr sz="1100"/>
          </a:p>
        </p:txBody>
      </p:sp>
      <p:sp>
        <p:nvSpPr>
          <p:cNvPr id="61" name="Text 52">
            <a:extLst xmlns:a="http://schemas.openxmlformats.org/drawingml/2006/main">
              <a:ext uri="{FF2B5EF4-FFF2-40B4-BE49-F238E27FC236}">
                <a16:creationId xmlns:a16="http://schemas.microsoft.com/office/drawing/2014/main" id="{0BA9AB54-0072-4AB3-B0E6-6E4887B8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053" y="3636569"/>
            <a:ext cx="1089965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i="1">
                <a:solidFill>
                  <a:srgbClr val="E0E0E0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Not supplied</a:t>
            </a:r>
            <a:endParaRPr sz="1100"/>
          </a:p>
        </p:txBody>
      </p:sp>
      <p:sp>
        <p:nvSpPr>
          <p:cNvPr id="62" name="Text 53">
            <a:extLst xmlns:a="http://schemas.openxmlformats.org/drawingml/2006/main">
              <a:ext uri="{FF2B5EF4-FFF2-40B4-BE49-F238E27FC236}">
                <a16:creationId xmlns:a16="http://schemas.microsoft.com/office/drawing/2014/main" id="{C027D228-5869-4FCF-876F-595CCCD7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2033" y="3636569"/>
            <a:ext cx="975665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i="1">
                <a:solidFill>
                  <a:srgbClr val="E0E0E0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-</a:t>
            </a:r>
            <a:endParaRPr sz="1100"/>
          </a:p>
        </p:txBody>
      </p:sp>
      <p:sp>
        <p:nvSpPr>
          <p:cNvPr id="63" name="Text 54">
            <a:extLst xmlns:a="http://schemas.openxmlformats.org/drawingml/2006/main">
              <a:ext uri="{FF2B5EF4-FFF2-40B4-BE49-F238E27FC236}">
                <a16:creationId xmlns:a16="http://schemas.microsoft.com/office/drawing/2014/main" id="{13E47F8B-C2A6-424C-838F-A9539863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52644"/>
            <a:ext cx="2057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FFFFFF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COLLEGE REQUIRED BEFORE SUBMISSION</a:t>
            </a:r>
            <a:endParaRPr sz="1200"/>
          </a:p>
        </p:txBody>
      </p:sp>
      <p:sp>
        <p:nvSpPr>
          <p:cNvPr id="64" name="Text 55">
            <a:extLst xmlns:a="http://schemas.openxmlformats.org/drawingml/2006/main">
              <a:ext uri="{FF2B5EF4-FFF2-40B4-BE49-F238E27FC236}">
                <a16:creationId xmlns:a16="http://schemas.microsoft.com/office/drawing/2014/main" id="{DA272082-FD4A-4725-97B6-B89BE3D1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6038698"/>
            <a:ext cx="1534363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FFFFFF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PHONE REQUIRED</a:t>
            </a:r>
            <a:endParaRPr sz="1200"/>
          </a:p>
        </p:txBody>
      </p:sp>
      <p:sp>
        <p:nvSpPr>
          <p:cNvPr id="65" name="Text 56">
            <a:extLst xmlns:a="http://schemas.openxmlformats.org/drawingml/2006/main">
              <a:ext uri="{FF2B5EF4-FFF2-40B4-BE49-F238E27FC236}">
                <a16:creationId xmlns:a16="http://schemas.microsoft.com/office/drawing/2014/main" id="{D67FF8C7-B535-4F84-905F-FA7D160C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126" y="6038660"/>
            <a:ext cx="40005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FFFFFF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vishnu.aadhya@gmail.com</a:t>
            </a:r>
            <a:endParaRPr sz="1200"/>
          </a:p>
        </p:txBody>
      </p:sp>
      <p:sp>
        <p:nvSpPr>
          <p:cNvPr id="70" name="Shape 1">
            <a:extLst xmlns:a="http://schemas.openxmlformats.org/drawingml/2006/main">
              <a:ext uri="{FF2B5EF4-FFF2-40B4-BE49-F238E27FC236}">
                <a16:creationId xmlns:a16="http://schemas.microsoft.com/office/drawing/2014/main" id="{780937B3-EB04-4CBA-C636-AF115BC1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" y="138074"/>
            <a:ext cx="11048695" cy="857707"/>
          </a:xfrm>
          <a:prstGeom xmlns:a="http://schemas.openxmlformats.org/drawingml/2006/main" prst="roundRect">
            <a:avLst>
              <a:gd name="adj" fmla="val 9476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0923660734f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4957" y="273709"/>
            <a:ext cx="9163491" cy="5864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4037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BC34BF0-BBBF-4DB5-A9B1-40AFAC4D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b15d4e9d04da7">
            <a:alphaModFix amt="10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C708BB30-D529-41AA-AC1E-3D28690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195"/>
            <a:ext cx="75895" cy="40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E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D2D4A79A-71F0-499D-A035-77881044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5" y="1295705"/>
            <a:ext cx="5547665" cy="467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KLA PS01: Restore Degraded Inspection Images</a:t>
            </a:r>
            <a:endParaRPr sz="2600"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94CA0E8B-5F39-452A-BC96-0329FB9B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1048695" cy="4552798"/>
          </a:xfrm>
          <a:prstGeom xmlns:a="http://schemas.openxmlformats.org/drawingml/2006/main" prst="roundRect">
            <a:avLst>
              <a:gd name="adj" fmla="val 672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13580F3C-205E-4ED8-9574-2F98C3D5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90195" cy="190195"/>
          </a:xfrm>
          <a:prstGeom xmlns:a="http://schemas.openxmlformats.org/drawingml/2006/main" prst="roundRect">
            <a:avLst>
              <a:gd name="adj" fmla="val 19230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C7B4DFF8-4130-47A6-853B-D1D00781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02173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65118FBA-473D-4E64-891C-559CEA7A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42E1B12A-1130-48F1-9C74-B4EDED0D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4C557EAD-577B-43F1-B6ED-437BF108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2412187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5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479a45a4c4d5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33856" y="258318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3890AD79-9FB8-4B1A-9784-46A10413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3193085"/>
            <a:ext cx="6277356" cy="314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AEFF82">
                    <a:alpha val="80000"/>
                  </a:srgbClr>
                </a:solidFill>
                <a:latin typeface="Poppins"/>
                <a:ea typeface="Poppins"/>
                <a:cs typeface="Poppins"/>
              </a:rPr>
              <a:t>Joint denoising and 2x super-resolution for grayscale NPY inspection data</a:t>
            </a:r>
            <a:endParaRPr sz="180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882586C5-1B7F-454E-9B71-58290D3C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3768242"/>
            <a:ext cx="10267798" cy="1276502"/>
          </a:xfrm>
          <a:prstGeom xmlns:a="http://schemas.openxmlformats.org/drawingml/2006/main" prst="roundRect">
            <a:avLst>
              <a:gd name="adj" fmla="val 4277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D2806A79-98E5-45EA-8481-D111B195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607" y="4006901"/>
            <a:ext cx="1690726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9CA3AF"/>
                </a:solidFill>
                <a:latin typeface="Poppins"/>
                <a:ea typeface="Poppins"/>
                <a:cs typeface="Poppins"/>
              </a:rPr>
              <a:t>INPUT, TARGET AND RISK</a:t>
            </a:r>
            <a:endParaRPr sz="10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85540115-E0A0-4DCF-B619-67510DD7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607" y="4283050"/>
            <a:ext cx="8968435" cy="50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Map noisy 128x128 arrays to clean 256x256 arrays. The release has 3,200 paired training samples and 400 test inputs. The key risk is restoring fine evidence without inventing inspection structures.</a:t>
            </a:r>
            <a:endParaRPr sz="1300"/>
          </a:p>
        </p:txBody>
      </p:sp>
      <p:pic>
        <p:nvPicPr>
          <p:cNvPr id="4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19b0516a164d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92164" y="228650"/>
            <a:ext cx="1607366" cy="783591"/>
          </a:xfrm>
          <a:prstGeom xmlns:a="http://schemas.openxmlformats.org/drawingml/2006/main" prst="rect">
            <a:avLst/>
          </a:prstGeom>
        </p:spPr>
      </p:pic>
      <p:sp>
        <p:nvSpPr>
          <p:cNvPr id="22" name="Shape 1">
            <a:extLst xmlns:a="http://schemas.openxmlformats.org/drawingml/2006/main">
              <a:ext uri="{FF2B5EF4-FFF2-40B4-BE49-F238E27FC236}">
                <a16:creationId xmlns:a16="http://schemas.microsoft.com/office/drawing/2014/main" id="{8B3789FB-4EC6-29BB-8AB4-B514BCE8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294"/>
            <a:ext cx="11048695" cy="857707"/>
          </a:xfrm>
          <a:prstGeom xmlns:a="http://schemas.openxmlformats.org/drawingml/2006/main" prst="roundRect">
            <a:avLst>
              <a:gd name="adj" fmla="val 9476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c795466304b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33449" y="416814"/>
            <a:ext cx="9163491" cy="5864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3948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E14E3FA-5AD0-41AD-BC87-54E5B856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71b68ad1b419a">
            <a:alphaModFix amt="10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A89503EA-7FC2-4194-BF1C-4D54D2E4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207"/>
            <a:ext cx="11048695" cy="666598"/>
          </a:xfrm>
          <a:prstGeom xmlns:a="http://schemas.openxmlformats.org/drawingml/2006/main" prst="roundRect">
            <a:avLst>
              <a:gd name="adj" fmla="val 15677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18ff5311c49f7"/>
          <a:srcRect xmlns:a="http://schemas.openxmlformats.org/drawingml/2006/main" l="0" t="10" r="0" b="10"/>
          <a:stretch xmlns:a="http://schemas.openxmlformats.org/drawingml/2006/main"/>
        </p:blipFill>
        <p:spPr>
          <a:xfrm xmlns:a="http://schemas.openxmlformats.org/drawingml/2006/main">
            <a:off x="857707" y="381305"/>
            <a:ext cx="1266444" cy="476402"/>
          </a:xfrm>
          <a:prstGeom xmlns:a="http://schemas.openxmlformats.org/drawingml/2006/main" prst="rect">
            <a:avLst/>
          </a:prstGeom>
        </p:spPr>
      </p:pic>
      <p:pic>
        <p:nvPicPr>
          <p:cNvPr id="3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6f5e3de834f5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58500" y="381305"/>
            <a:ext cx="476402" cy="476402"/>
          </a:xfrm>
          <a:prstGeom xmlns:a="http://schemas.openxmlformats.org/drawingml/2006/main" prst="rect">
            <a:avLst/>
          </a:prstGeom>
        </p:spPr>
      </p:pic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5D878D77-A328-4576-8271-E59C750B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195"/>
            <a:ext cx="75895" cy="40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E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BC1CFC70-D127-4AB0-BDF6-B2562A12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" y="1295705"/>
            <a:ext cx="10682936" cy="467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DAF-Restormer Restores Structure, Not Texture</a:t>
            </a:r>
            <a:endParaRPr sz="2600">
              <a:latin typeface="Poppins"/>
              <a:ea typeface="Poppins"/>
              <a:cs typeface="Poppins"/>
            </a:endParaRPr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C31A5315-7652-4380-AF7E-D29BFD18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1048695" cy="4552798"/>
          </a:xfrm>
          <a:prstGeom xmlns:a="http://schemas.openxmlformats.org/drawingml/2006/main" prst="roundRect">
            <a:avLst>
              <a:gd name="adj" fmla="val 672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47376A77-8508-4E8E-8B07-0585C74F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90195" cy="190195"/>
          </a:xfrm>
          <a:prstGeom xmlns:a="http://schemas.openxmlformats.org/drawingml/2006/main" prst="roundRect">
            <a:avLst>
              <a:gd name="adj" fmla="val 19230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E9681368-B8C1-487F-9340-44D42DBB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02173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6E841ED8-A1C5-4FAD-A48D-87BB2825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ABC7C3DA-FCE5-467C-BE3E-166F6390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8E067C36-9939-4FDF-BBCF-C5D8A1AB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2412187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5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866355c664168"/>
          <a:srcRect xmlns:a="http://schemas.openxmlformats.org/drawingml/2006/main" l="-133" t="0" r="-133" b="0"/>
          <a:stretch xmlns:a="http://schemas.openxmlformats.org/drawingml/2006/main"/>
        </p:blipFill>
        <p:spPr>
          <a:xfrm xmlns:a="http://schemas.openxmlformats.org/drawingml/2006/main">
            <a:off x="1162202" y="2583180"/>
            <a:ext cx="171907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0D0D774B-360A-4F9C-848B-39CBBC2F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3183941"/>
            <a:ext cx="9813341" cy="6291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AEFF82">
                    <a:alpha val="90000"/>
                  </a:srgbClr>
                </a:solidFill>
                <a:latin typeface="Poppins"/>
                <a:ea typeface="Poppins"/>
                <a:cs typeface="Poppins"/>
              </a:rPr>
              <a:t>An accuracy-first transformer infers the degradation, restores spatial and frequency evidence, and avoids adversarial texture synthesis.</a:t>
            </a:r>
            <a:endParaRPr sz="160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33557EA8-4C30-4115-A5B2-591789BD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4060850"/>
            <a:ext cx="10267798" cy="895198"/>
          </a:xfrm>
          <a:prstGeom xmlns:a="http://schemas.openxmlformats.org/drawingml/2006/main" prst="roundRect">
            <a:avLst>
              <a:gd name="adj" fmla="val 8693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A4ADC7FA-51F9-47BE-87A3-E24DB3B4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" y="4261104"/>
            <a:ext cx="1996135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9CA3AF"/>
                </a:solidFill>
                <a:latin typeface="Poppins"/>
                <a:ea typeface="Poppins"/>
                <a:cs typeface="Poppins"/>
              </a:rPr>
              <a:t>DEGRADATION-AWARE RESTORATION</a:t>
            </a:r>
            <a:endParaRPr sz="10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2A31CF5E-39C2-4CDB-98B2-7B08B0A0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" y="4528109"/>
            <a:ext cx="767730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Condition transformer blocks on a learned degradation prompt, then refine spatial and frequency features jointly.</a:t>
            </a:r>
            <a:endParaRPr sz="120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DAAE6022-D434-4B47-B029-51E8C1BB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5108753"/>
            <a:ext cx="10267798" cy="895198"/>
          </a:xfrm>
          <a:prstGeom xmlns:a="http://schemas.openxmlformats.org/drawingml/2006/main" prst="roundRect">
            <a:avLst>
              <a:gd name="adj" fmla="val 8693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B9519626-4E74-48C8-9F13-403FF143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" y="5309006"/>
            <a:ext cx="1548079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9CA3AF"/>
                </a:solidFill>
                <a:latin typeface="Poppins"/>
                <a:ea typeface="Poppins"/>
                <a:cs typeface="Poppins"/>
              </a:rPr>
              <a:t>ACCURACY MODE</a:t>
            </a:r>
            <a:endParaRPr sz="10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483CAC47-853C-40D9-8F12-1F349450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" y="5575097"/>
            <a:ext cx="8458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Predict clean LR structure and uncertainty, upscale by 2x, then average eight dihedral views for robust output.</a:t>
            </a:r>
            <a:endParaRPr sz="1200"/>
          </a:p>
        </p:txBody>
      </p:sp>
      <p:pic>
        <p:nvPicPr>
          <p:cNvPr id="53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016c1696c45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92164" y="228650"/>
            <a:ext cx="1607366" cy="783591"/>
          </a:xfrm>
          <a:prstGeom xmlns:a="http://schemas.openxmlformats.org/drawingml/2006/main" prst="rect">
            <a:avLst/>
          </a:prstGeom>
        </p:spPr>
      </p:pic>
      <p:sp>
        <p:nvSpPr>
          <p:cNvPr id="25" name="Shape 1">
            <a:extLst xmlns:a="http://schemas.openxmlformats.org/drawingml/2006/main">
              <a:ext uri="{FF2B5EF4-FFF2-40B4-BE49-F238E27FC236}">
                <a16:creationId xmlns:a16="http://schemas.microsoft.com/office/drawing/2014/main" id="{82B7216B-04F1-E2CC-935F-9AA2CE5B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602"/>
            <a:ext cx="11048695" cy="857707"/>
          </a:xfrm>
          <a:prstGeom xmlns:a="http://schemas.openxmlformats.org/drawingml/2006/main" prst="roundRect">
            <a:avLst>
              <a:gd name="adj" fmla="val 9476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5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38a8b17794f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1375" y="329389"/>
            <a:ext cx="9163491" cy="5864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6104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0D177C-DCED-482F-B410-E296A9C5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449518cca42c2">
            <a:alphaModFix amt="10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1B2FD5A9-134D-4F01-AD66-C977EF66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207"/>
            <a:ext cx="11048695" cy="666598"/>
          </a:xfrm>
          <a:prstGeom xmlns:a="http://schemas.openxmlformats.org/drawingml/2006/main" prst="roundRect">
            <a:avLst>
              <a:gd name="adj" fmla="val 15677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2064d37774803"/>
          <a:srcRect xmlns:a="http://schemas.openxmlformats.org/drawingml/2006/main" l="0" t="10" r="0" b="10"/>
          <a:stretch xmlns:a="http://schemas.openxmlformats.org/drawingml/2006/main"/>
        </p:blipFill>
        <p:spPr>
          <a:xfrm xmlns:a="http://schemas.openxmlformats.org/drawingml/2006/main">
            <a:off x="857707" y="381305"/>
            <a:ext cx="1266444" cy="476402"/>
          </a:xfrm>
          <a:prstGeom xmlns:a="http://schemas.openxmlformats.org/drawingml/2006/main" prst="rect">
            <a:avLst/>
          </a:prstGeom>
        </p:spPr>
      </p:pic>
      <p:pic>
        <p:nvPicPr>
          <p:cNvPr id="3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eb4dfa7e24d5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58500" y="381305"/>
            <a:ext cx="476402" cy="476402"/>
          </a:xfrm>
          <a:prstGeom xmlns:a="http://schemas.openxmlformats.org/drawingml/2006/main" prst="rect">
            <a:avLst/>
          </a:prstGeom>
        </p:spPr>
      </p:pic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FE956D93-4C2A-4C0F-8A99-6B58FE53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195"/>
            <a:ext cx="75895" cy="40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E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E9DB6935-CEAF-40CE-AAD6-AAFF81B3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5" y="1295705"/>
            <a:ext cx="10296144" cy="467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One Reproducible Command Runs the Full Pipeline</a:t>
            </a:r>
            <a:endParaRPr sz="2600"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9D51AF46-D37D-46E2-85A4-931C44C3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1048695" cy="4552798"/>
          </a:xfrm>
          <a:prstGeom xmlns:a="http://schemas.openxmlformats.org/drawingml/2006/main" prst="roundRect">
            <a:avLst>
              <a:gd name="adj" fmla="val 672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3518FBE9-D8A7-46B2-8A4C-D2D29A1B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90195" cy="190195"/>
          </a:xfrm>
          <a:prstGeom xmlns:a="http://schemas.openxmlformats.org/drawingml/2006/main" prst="roundRect">
            <a:avLst>
              <a:gd name="adj" fmla="val 19230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318F1A5F-9E31-4ED3-8F80-37682AAD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02173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B018943E-328B-4737-92EA-C53C924E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EF91135E-E267-4282-A623-FA29A19B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5B62470F-4368-4A7F-B9A8-ABBA4B52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2412187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5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ecfabbdd6403e"/>
          <a:srcRect xmlns:a="http://schemas.openxmlformats.org/drawingml/2006/main" l="-80" t="0" r="-80" b="0"/>
          <a:stretch xmlns:a="http://schemas.openxmlformats.org/drawingml/2006/main"/>
        </p:blipFill>
        <p:spPr>
          <a:xfrm xmlns:a="http://schemas.openxmlformats.org/drawingml/2006/main">
            <a:off x="1104595" y="2583180"/>
            <a:ext cx="286207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8AF5E160-670E-4C56-AA1E-F3F76E27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3193085"/>
            <a:ext cx="101727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AEFF82">
                    <a:alpha val="80000"/>
                  </a:srgbClr>
                </a:solidFill>
                <a:latin typeface="Poppins"/>
                <a:ea typeface="Poppins"/>
                <a:cs typeface="Poppins"/>
              </a:rPr>
              <a:t>NPY input -&gt; DAF-Restormer -&gt; 8-view geometric ensemble -&gt; clamp [0,1] -&gt; same-name float32 256x256 NPY output</a:t>
            </a:r>
            <a:endParaRPr sz="180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D0014484-59DE-4BC3-AA09-BE74FB73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4134002"/>
            <a:ext cx="10267798" cy="1276502"/>
          </a:xfrm>
          <a:prstGeom xmlns:a="http://schemas.openxmlformats.org/drawingml/2006/main" prst="roundRect">
            <a:avLst>
              <a:gd name="adj" fmla="val 4277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9C26896B-32EB-41B7-AC3D-8BA5293E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607" y="4372661"/>
            <a:ext cx="1367028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9CA3AF"/>
                </a:solidFill>
                <a:latin typeface="Poppins"/>
                <a:ea typeface="Poppins"/>
                <a:cs typeface="Poppins"/>
              </a:rPr>
              <a:t>TRAINING AND INFERENCE</a:t>
            </a:r>
            <a:endParaRPr sz="10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08EE2741-4DEF-4751-8EFE-A1A40F28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607" y="4648810"/>
            <a:ext cx="8996782" cy="50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Train on a fixed 2,880/320 split with seed 42 and fidelity-first losses; refine perceptually at low learning rate. infer.py auto-loads the selected checkpoint, batches GPU inference, and preserves filenames.</a:t>
            </a:r>
            <a:endParaRPr sz="1300"/>
          </a:p>
        </p:txBody>
      </p:sp>
      <p:pic>
        <p:nvPicPr>
          <p:cNvPr id="47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5e602cf9c49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92164" y="227710"/>
            <a:ext cx="1607366" cy="783591"/>
          </a:xfrm>
          <a:prstGeom xmlns:a="http://schemas.openxmlformats.org/drawingml/2006/main" prst="rect">
            <a:avLst/>
          </a:prstGeom>
        </p:spPr>
      </p:pic>
      <p:sp>
        <p:nvSpPr>
          <p:cNvPr id="22" name="Shape 1">
            <a:extLst xmlns:a="http://schemas.openxmlformats.org/drawingml/2006/main">
              <a:ext uri="{FF2B5EF4-FFF2-40B4-BE49-F238E27FC236}">
                <a16:creationId xmlns:a16="http://schemas.microsoft.com/office/drawing/2014/main" id="{50164B49-38DE-6195-0A8B-DC6EC6DA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799"/>
            <a:ext cx="11048695" cy="857707"/>
          </a:xfrm>
          <a:prstGeom xmlns:a="http://schemas.openxmlformats.org/drawingml/2006/main" prst="roundRect">
            <a:avLst>
              <a:gd name="adj" fmla="val 9476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9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21edebd34047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66553" y="276669"/>
            <a:ext cx="9163491" cy="5864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79520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171B4FA-46C2-439C-862A-2662C037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6b7bf43194e62">
            <a:alphaModFix amt="10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F23FB79-52EC-41FC-9389-A11B6FB0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207"/>
            <a:ext cx="11048695" cy="666598"/>
          </a:xfrm>
          <a:prstGeom xmlns:a="http://schemas.openxmlformats.org/drawingml/2006/main" prst="roundRect">
            <a:avLst>
              <a:gd name="adj" fmla="val 15677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e92aee9164b66"/>
          <a:srcRect xmlns:a="http://schemas.openxmlformats.org/drawingml/2006/main" l="0" t="10" r="0" b="10"/>
          <a:stretch xmlns:a="http://schemas.openxmlformats.org/drawingml/2006/main"/>
        </p:blipFill>
        <p:spPr>
          <a:xfrm xmlns:a="http://schemas.openxmlformats.org/drawingml/2006/main">
            <a:off x="857707" y="381305"/>
            <a:ext cx="1266444" cy="476402"/>
          </a:xfrm>
          <a:prstGeom xmlns:a="http://schemas.openxmlformats.org/drawingml/2006/main" prst="rect">
            <a:avLst/>
          </a:prstGeom>
        </p:spPr>
      </p:pic>
      <p:pic>
        <p:nvPicPr>
          <p:cNvPr id="3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f69ec9db647d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58500" y="381305"/>
            <a:ext cx="476402" cy="476402"/>
          </a:xfrm>
          <a:prstGeom xmlns:a="http://schemas.openxmlformats.org/drawingml/2006/main" prst="rect">
            <a:avLst/>
          </a:prstGeom>
        </p:spPr>
      </p:pic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27747E39-BF2D-4B45-9E79-1A9814A3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195"/>
            <a:ext cx="75895" cy="40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E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A1CA7620-AE1F-4F3C-A88D-E66AEE66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5" y="1295705"/>
            <a:ext cx="4986223" cy="467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Innovation with a Verified Accuracy Win</a:t>
            </a:r>
            <a:endParaRPr sz="2600"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325320F3-B9A1-40C6-AF1B-7EE2E89C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1048695" cy="4552798"/>
          </a:xfrm>
          <a:prstGeom xmlns:a="http://schemas.openxmlformats.org/drawingml/2006/main" prst="roundRect">
            <a:avLst>
              <a:gd name="adj" fmla="val 672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E6029A72-C31E-457E-8454-291E3F08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90195" cy="190195"/>
          </a:xfrm>
          <a:prstGeom xmlns:a="http://schemas.openxmlformats.org/drawingml/2006/main" prst="roundRect">
            <a:avLst>
              <a:gd name="adj" fmla="val 19230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8772ABE7-9F34-4D4C-AF50-CAC95F88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02173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9805AEEE-56B9-4296-B9AA-E21C079D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9B6DD607-B939-4B2E-9EA4-CD6899FF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073C6741-94BB-412F-AECD-FC1DA717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2412187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5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0c499829b4379"/>
          <a:srcRect xmlns:a="http://schemas.openxmlformats.org/drawingml/2006/main" l="-133" t="0" r="-133" b="0"/>
          <a:stretch xmlns:a="http://schemas.openxmlformats.org/drawingml/2006/main"/>
        </p:blipFill>
        <p:spPr>
          <a:xfrm xmlns:a="http://schemas.openxmlformats.org/drawingml/2006/main">
            <a:off x="1162202" y="2583180"/>
            <a:ext cx="171907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D8585B45-995A-452B-B945-53A2BC42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3193085"/>
            <a:ext cx="9801454" cy="314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AEFF82">
                    <a:alpha val="80000"/>
                  </a:srgbClr>
                </a:solidFill>
                <a:latin typeface="Poppins"/>
                <a:ea typeface="Poppins"/>
                <a:cs typeface="Poppins"/>
              </a:rPr>
              <a:t>The model estimates what degraded each image, restores in two domains, and exposes uncertainty.</a:t>
            </a:r>
            <a:endParaRPr sz="180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84C599C3-2BB8-4B3D-9A85-B76703CF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3845052"/>
            <a:ext cx="5020056" cy="1429207"/>
          </a:xfrm>
          <a:prstGeom xmlns:a="http://schemas.openxmlformats.org/drawingml/2006/main" prst="roundRect">
            <a:avLst>
              <a:gd name="adj" fmla="val 3412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FFB80A86-D932-4666-9E52-9EB1CEC4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607" y="4082796"/>
            <a:ext cx="1271930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9CA3AF"/>
                </a:solidFill>
                <a:latin typeface="Poppins"/>
                <a:ea typeface="Poppins"/>
                <a:cs typeface="Poppins"/>
              </a:rPr>
              <a:t>MODEL DESIGN</a:t>
            </a:r>
            <a:endParaRPr sz="10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91D67E1F-B41C-4014-AF5C-80114FFC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607" y="4349801"/>
            <a:ext cx="4429354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Global degradation prompt + spatial noise map + frequency-gated bottleneck + auxiliary clean-LR and uncertainty heads.</a:t>
            </a:r>
            <a:endParaRPr sz="120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2C4821BD-33D4-4EE6-8F3D-AEB45AD8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605" y="3845052"/>
            <a:ext cx="5020056" cy="1429207"/>
          </a:xfrm>
          <a:prstGeom xmlns:a="http://schemas.openxmlformats.org/drawingml/2006/main" prst="roundRect">
            <a:avLst>
              <a:gd name="adj" fmla="val 3412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0CB8D8E3-6513-42D7-BD99-18456CA4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349" y="4082796"/>
            <a:ext cx="1901038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9CA3AF"/>
                </a:solidFill>
                <a:latin typeface="Poppins"/>
                <a:ea typeface="Poppins"/>
                <a:cs typeface="Poppins"/>
              </a:rPr>
              <a:t>MEASURED ADVANTAGE</a:t>
            </a:r>
            <a:endParaRPr sz="10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5422ACA3-BBA0-4E50-8112-FFC9CE76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349" y="4349801"/>
            <a:ext cx="423915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28.4713 dB PSNR | 0.771162 SSIM | 0.228489 LPIPS. Beats the converged Restormer control on all three quality metrics.</a:t>
            </a:r>
            <a:endParaRPr sz="1200"/>
          </a:p>
        </p:txBody>
      </p:sp>
      <p:pic>
        <p:nvPicPr>
          <p:cNvPr id="53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b99e84c4642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8322" y="228650"/>
            <a:ext cx="1607366" cy="783591"/>
          </a:xfrm>
          <a:prstGeom xmlns:a="http://schemas.openxmlformats.org/drawingml/2006/main" prst="rect">
            <a:avLst/>
          </a:prstGeom>
        </p:spPr>
      </p:pic>
      <p:sp>
        <p:nvSpPr>
          <p:cNvPr id="25" name="Shape 1">
            <a:extLst xmlns:a="http://schemas.openxmlformats.org/drawingml/2006/main">
              <a:ext uri="{FF2B5EF4-FFF2-40B4-BE49-F238E27FC236}">
                <a16:creationId xmlns:a16="http://schemas.microsoft.com/office/drawing/2014/main" id="{BB3A3471-21A6-8A80-8399-32E98C63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8065"/>
            <a:ext cx="11048695" cy="857707"/>
          </a:xfrm>
          <a:prstGeom xmlns:a="http://schemas.openxmlformats.org/drawingml/2006/main" prst="roundRect">
            <a:avLst>
              <a:gd name="adj" fmla="val 9476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5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e6d26a64c48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90929" y="393700"/>
            <a:ext cx="9163491" cy="5864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3612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7BB876D-1BB8-4404-A1D7-CC54541C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a7929d9004988">
            <a:alphaModFix amt="10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4C928E2A-9C63-47CF-A68D-E7E3F554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207"/>
            <a:ext cx="11048695" cy="666598"/>
          </a:xfrm>
          <a:prstGeom xmlns:a="http://schemas.openxmlformats.org/drawingml/2006/main" prst="roundRect">
            <a:avLst>
              <a:gd name="adj" fmla="val 15677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af79bb02e4e3d"/>
          <a:srcRect xmlns:a="http://schemas.openxmlformats.org/drawingml/2006/main" l="0" t="10" r="0" b="10"/>
          <a:stretch xmlns:a="http://schemas.openxmlformats.org/drawingml/2006/main"/>
        </p:blipFill>
        <p:spPr>
          <a:xfrm xmlns:a="http://schemas.openxmlformats.org/drawingml/2006/main">
            <a:off x="857707" y="381305"/>
            <a:ext cx="1266444" cy="476402"/>
          </a:xfrm>
          <a:prstGeom xmlns:a="http://schemas.openxmlformats.org/drawingml/2006/main" prst="rect">
            <a:avLst/>
          </a:prstGeom>
        </p:spPr>
      </p:pic>
      <p:pic>
        <p:nvPicPr>
          <p:cNvPr id="4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e81db9ff2459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58500" y="381305"/>
            <a:ext cx="476402" cy="476402"/>
          </a:xfrm>
          <a:prstGeom xmlns:a="http://schemas.openxmlformats.org/drawingml/2006/main" prst="rect">
            <a:avLst/>
          </a:prstGeom>
        </p:spPr>
      </p:pic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B7C514F6-7F26-4C44-8129-33046621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195"/>
            <a:ext cx="75895" cy="40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E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A789F862-377B-4B98-8936-4D8D4F7F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5" y="1295705"/>
            <a:ext cx="3728923" cy="467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Restoration Value and Readiness</a:t>
            </a:r>
            <a:endParaRPr sz="2600"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D400BD49-4ECF-45AE-A5A5-C2182EF9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1048695" cy="4552798"/>
          </a:xfrm>
          <a:prstGeom xmlns:a="http://schemas.openxmlformats.org/drawingml/2006/main" prst="roundRect">
            <a:avLst>
              <a:gd name="adj" fmla="val 672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4D8D3A42-115E-4E6B-A8D9-E0A3DCAC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90195" cy="190195"/>
          </a:xfrm>
          <a:prstGeom xmlns:a="http://schemas.openxmlformats.org/drawingml/2006/main" prst="roundRect">
            <a:avLst>
              <a:gd name="adj" fmla="val 19230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C8F8135F-A968-4717-9555-9D2CCB50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02173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7938221C-9FFA-4A40-AAAC-8C09BCD1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36F1F1DF-9FEB-4D40-8699-C3070DC1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DF32A1E9-D120-481B-894D-60379E44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2412187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5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6d8816a514f2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33856" y="258318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E692C73C-23B8-4982-9343-1DF6593E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3193085"/>
            <a:ext cx="10239451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AEFF82">
                    <a:alpha val="80000"/>
                  </a:srgbClr>
                </a:solidFill>
                <a:latin typeface="Poppins"/>
                <a:ea typeface="Poppins"/>
                <a:cs typeface="Poppins"/>
              </a:rPr>
              <a:t>Improve visible fidelity and 2x resolution while preserving a no-GAN safety posture for inspection evidence.</a:t>
            </a:r>
            <a:endParaRPr sz="180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CF074B00-98C1-4EC1-8B36-949A482B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4210812"/>
            <a:ext cx="5020056" cy="1200607"/>
          </a:xfrm>
          <a:prstGeom xmlns:a="http://schemas.openxmlformats.org/drawingml/2006/main" prst="roundRect">
            <a:avLst>
              <a:gd name="adj" fmla="val 4836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e71f1fdd9454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00607" y="4486961"/>
            <a:ext cx="152705" cy="152705"/>
          </a:xfrm>
          <a:prstGeom xmlns:a="http://schemas.openxmlformats.org/drawingml/2006/main" prst="rect">
            <a:avLst/>
          </a:prstGeom>
        </p:spPr>
      </p:pic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8FBCB15E-DB65-4150-9C0F-7875690A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698" y="4448556"/>
            <a:ext cx="1324051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PRIMARY IMPACT</a:t>
            </a:r>
            <a:endParaRPr sz="1200"/>
          </a:p>
        </p:txBody>
      </p:sp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A196C372-BF6F-4040-89BD-81C4F02A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607" y="4791456"/>
            <a:ext cx="4148633" cy="381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D1D5DB"/>
                </a:solidFill>
                <a:latin typeface="Poppins"/>
                <a:ea typeface="Poppins"/>
                <a:cs typeface="Poppins"/>
              </a:rPr>
              <a:t>Cleaner edges support review and downstream defect analysis; adversarial hallucination is deliberately avoided.</a:t>
            </a:r>
            <a:endParaRPr sz="1000"/>
          </a:p>
        </p:txBody>
      </p:sp>
      <p:sp>
        <p:nvSpPr>
          <p:cNvPr id="21" name="Shape 14">
            <a:extLst xmlns:a="http://schemas.openxmlformats.org/drawingml/2006/main">
              <a:ext uri="{FF2B5EF4-FFF2-40B4-BE49-F238E27FC236}">
                <a16:creationId xmlns:a16="http://schemas.microsoft.com/office/drawing/2014/main" id="{BD008FEE-F635-4ADF-B39B-74ACC21A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605" y="4210812"/>
            <a:ext cx="5020056" cy="1200607"/>
          </a:xfrm>
          <a:prstGeom xmlns:a="http://schemas.openxmlformats.org/drawingml/2006/main" prst="roundRect">
            <a:avLst>
              <a:gd name="adj" fmla="val 4836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d5315636f4988"/>
          <a:srcRect xmlns:a="http://schemas.openxmlformats.org/drawingml/2006/main" l="-33" t="0" r="-33" b="0"/>
          <a:stretch xmlns:a="http://schemas.openxmlformats.org/drawingml/2006/main"/>
        </p:blipFill>
        <p:spPr>
          <a:xfrm xmlns:a="http://schemas.openxmlformats.org/drawingml/2006/main">
            <a:off x="6448349" y="4486961"/>
            <a:ext cx="171907" cy="152705"/>
          </a:xfrm>
          <a:prstGeom xmlns:a="http://schemas.openxmlformats.org/drawingml/2006/main" prst="rect">
            <a:avLst/>
          </a:prstGeom>
        </p:spPr>
      </p:pic>
      <p:sp>
        <p:nvSpPr>
          <p:cNvPr id="23" name="Text 15">
            <a:extLst xmlns:a="http://schemas.openxmlformats.org/drawingml/2006/main">
              <a:ext uri="{FF2B5EF4-FFF2-40B4-BE49-F238E27FC236}">
                <a16:creationId xmlns:a16="http://schemas.microsoft.com/office/drawing/2014/main" id="{153ACA56-B284-49B3-AE02-39EB17CC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556" y="4448556"/>
            <a:ext cx="192481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VALIDATED OUTPUT</a:t>
            </a:r>
            <a:endParaRPr sz="1200"/>
          </a:p>
        </p:txBody>
      </p:sp>
      <p:sp>
        <p:nvSpPr>
          <p:cNvPr id="24" name="Text 16">
            <a:extLst xmlns:a="http://schemas.openxmlformats.org/drawingml/2006/main">
              <a:ext uri="{FF2B5EF4-FFF2-40B4-BE49-F238E27FC236}">
                <a16:creationId xmlns:a16="http://schemas.microsoft.com/office/drawing/2014/main" id="{A3B40C00-1010-4909-B3CB-11E7686B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349" y="4791456"/>
            <a:ext cx="3986784" cy="381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D1D5DB"/>
                </a:solidFill>
                <a:latin typeface="Poppins"/>
                <a:ea typeface="Poppins"/>
                <a:cs typeface="Poppins"/>
              </a:rPr>
              <a:t>400/400 files passed filename, 256x256 shape, float32 dtype, finite-value, and [0,1] range checks.</a:t>
            </a:r>
            <a:endParaRPr sz="1000"/>
          </a:p>
        </p:txBody>
      </p:sp>
      <p:pic>
        <p:nvPicPr>
          <p:cNvPr id="59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f0adf291e4e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06922" y="227710"/>
            <a:ext cx="1607366" cy="783591"/>
          </a:xfrm>
          <a:prstGeom xmlns:a="http://schemas.openxmlformats.org/drawingml/2006/main" prst="rect">
            <a:avLst/>
          </a:prstGeom>
        </p:spPr>
      </p:pic>
      <p:sp>
        <p:nvSpPr>
          <p:cNvPr id="27" name="Shape 1">
            <a:extLst xmlns:a="http://schemas.openxmlformats.org/drawingml/2006/main">
              <a:ext uri="{FF2B5EF4-FFF2-40B4-BE49-F238E27FC236}">
                <a16:creationId xmlns:a16="http://schemas.microsoft.com/office/drawing/2014/main" id="{850BA2BE-D607-619F-6960-A7127701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602"/>
            <a:ext cx="11048695" cy="857707"/>
          </a:xfrm>
          <a:prstGeom xmlns:a="http://schemas.openxmlformats.org/drawingml/2006/main" prst="roundRect">
            <a:avLst>
              <a:gd name="adj" fmla="val 9476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1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a3dfd6a904e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8859" y="329389"/>
            <a:ext cx="9163491" cy="5864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9588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C0417E7-4936-419D-BF09-DB45DAAB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e22553a5547e6">
            <a:alphaModFix amt="10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307734C0-77AE-4B29-ABE1-750867E8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207"/>
            <a:ext cx="11048695" cy="666598"/>
          </a:xfrm>
          <a:prstGeom xmlns:a="http://schemas.openxmlformats.org/drawingml/2006/main" prst="roundRect">
            <a:avLst>
              <a:gd name="adj" fmla="val 15677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3bce9cb914a85"/>
          <a:srcRect xmlns:a="http://schemas.openxmlformats.org/drawingml/2006/main" l="0" t="10" r="0" b="10"/>
          <a:stretch xmlns:a="http://schemas.openxmlformats.org/drawingml/2006/main"/>
        </p:blipFill>
        <p:spPr>
          <a:xfrm xmlns:a="http://schemas.openxmlformats.org/drawingml/2006/main">
            <a:off x="857707" y="381305"/>
            <a:ext cx="1266444" cy="476402"/>
          </a:xfrm>
          <a:prstGeom xmlns:a="http://schemas.openxmlformats.org/drawingml/2006/main" prst="rect">
            <a:avLst/>
          </a:prstGeom>
        </p:spPr>
      </p:pic>
      <p:pic>
        <p:nvPicPr>
          <p:cNvPr id="4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9145717ea481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58500" y="381305"/>
            <a:ext cx="476402" cy="476402"/>
          </a:xfrm>
          <a:prstGeom xmlns:a="http://schemas.openxmlformats.org/drawingml/2006/main" prst="rect">
            <a:avLst/>
          </a:prstGeom>
        </p:spPr>
      </p:pic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DBE45179-2F18-41DC-A0FD-367F702A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098"/>
            <a:ext cx="75895" cy="40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E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ACDFAD67-AED3-4854-A52C-F10D40D5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5" y="1200607"/>
            <a:ext cx="7824521" cy="467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Technology, Feasibility and H100 Evaluation</a:t>
            </a:r>
            <a:endParaRPr sz="2600"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A43B1E7E-67FB-4580-B818-A10E8836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79092"/>
            <a:ext cx="11048695" cy="4695444"/>
          </a:xfrm>
          <a:prstGeom xmlns:a="http://schemas.openxmlformats.org/drawingml/2006/main" prst="roundRect">
            <a:avLst>
              <a:gd name="adj" fmla="val 632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253ED4BC-9E7F-4E11-8C87-76B8BB7F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79092"/>
            <a:ext cx="190195" cy="190195"/>
          </a:xfrm>
          <a:prstGeom xmlns:a="http://schemas.openxmlformats.org/drawingml/2006/main" prst="roundRect">
            <a:avLst>
              <a:gd name="adj" fmla="val 19230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230F89DE-4DBA-42B7-921A-0A4A66C1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879092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7ED0DCB1-E4A6-45DF-A310-17EAD096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3CB885E0-CA6B-431E-A767-DAA7D828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126C1B21-CB9B-44D9-9937-57D5B1B1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2269541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5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438906a15484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33856" y="2440534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7AEA1B57-A3FE-4A36-9F70-D0B753BD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049" y="2287829"/>
            <a:ext cx="9344254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AEFF82">
                    <a:alpha val="90000"/>
                  </a:srgbClr>
                </a:solidFill>
                <a:latin typeface="Poppins"/>
                <a:ea typeface="Poppins"/>
                <a:cs typeface="Poppins"/>
              </a:rPr>
              <a:t>A portable PyTorch evaluator needs only input and output directories; the same path runs on CPU, T4 or H100.</a:t>
            </a:r>
            <a:endParaRPr sz="180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ED1B6DC0-47F9-4905-B147-AF0FBD9B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049" y="3238805"/>
            <a:ext cx="9467698" cy="1276502"/>
          </a:xfrm>
          <a:prstGeom xmlns:a="http://schemas.openxmlformats.org/drawingml/2006/main" prst="roundRect">
            <a:avLst>
              <a:gd name="adj" fmla="val 4277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F385BAC4-C5FA-49C7-840C-9B993821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707" y="3477463"/>
            <a:ext cx="2033626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9CA3AF"/>
                </a:solidFill>
                <a:latin typeface="Poppins"/>
                <a:ea typeface="Poppins"/>
                <a:cs typeface="Poppins"/>
              </a:rPr>
              <a:t>REPRODUCIBLE STACK</a:t>
            </a:r>
            <a:endParaRPr sz="10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D10802C9-01F2-4198-824C-E0CBA0AA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707" y="3753612"/>
            <a:ext cx="8748979" cy="50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Python 3.12, PyTorch 2.6, Git LFS checkpoint, and a pinned transitive lock. train.py reproduces training; infer.py auto-loads weights. The T4-validated CUDA path transfers unchanged to H100.</a:t>
            </a:r>
            <a:endParaRPr sz="130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E485DA7E-26FE-4244-AA78-FAE26C14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5252314"/>
            <a:ext cx="3295498" cy="933602"/>
          </a:xfrm>
          <a:prstGeom xmlns:a="http://schemas.openxmlformats.org/drawingml/2006/main" prst="roundRect">
            <a:avLst>
              <a:gd name="adj" fmla="val 7995"/>
            </a:avLst>
          </a:prstGeom>
          <a:solidFill xmlns:a="http://schemas.openxmlformats.org/drawingml/2006/main">
            <a:srgbClr val="273383">
              <a:alpha val="40000"/>
            </a:srgbClr>
          </a:solidFill>
          <a:ln xmlns:a="http://schemas.openxmlformats.org/drawingml/2006/main"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1917362944d77"/>
          <a:srcRect xmlns:a="http://schemas.openxmlformats.org/drawingml/2006/main" l="0" t="-45" r="0" b="-45"/>
          <a:stretch xmlns:a="http://schemas.openxmlformats.org/drawingml/2006/main"/>
        </p:blipFill>
        <p:spPr>
          <a:xfrm xmlns:a="http://schemas.openxmlformats.org/drawingml/2006/main">
            <a:off x="2481682" y="5451653"/>
            <a:ext cx="256946" cy="228600"/>
          </a:xfrm>
          <a:prstGeom xmlns:a="http://schemas.openxmlformats.org/drawingml/2006/main" prst="rect">
            <a:avLst/>
          </a:prstGeom>
        </p:spPr>
      </p:pic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5F56C32D-89FD-4FFF-B247-6EC8B60E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8" y="5823814"/>
            <a:ext cx="1608430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E2E8F0"/>
                </a:solidFill>
                <a:latin typeface="Poppins"/>
                <a:ea typeface="Poppins"/>
                <a:cs typeface="Poppins"/>
              </a:rPr>
              <a:t>PyTorch + DAF model</a:t>
            </a:r>
            <a:endParaRPr sz="1000"/>
          </a:p>
        </p:txBody>
      </p:sp>
      <p:sp>
        <p:nvSpPr>
          <p:cNvPr id="23" name="Shape 16">
            <a:extLst xmlns:a="http://schemas.openxmlformats.org/drawingml/2006/main">
              <a:ext uri="{FF2B5EF4-FFF2-40B4-BE49-F238E27FC236}">
                <a16:creationId xmlns:a16="http://schemas.microsoft.com/office/drawing/2014/main" id="{CDF225D1-7C32-4518-9D37-BE79237D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556" y="5252314"/>
            <a:ext cx="3295498" cy="933602"/>
          </a:xfrm>
          <a:prstGeom xmlns:a="http://schemas.openxmlformats.org/drawingml/2006/main" prst="roundRect">
            <a:avLst>
              <a:gd name="adj" fmla="val 7995"/>
            </a:avLst>
          </a:prstGeom>
          <a:solidFill xmlns:a="http://schemas.openxmlformats.org/drawingml/2006/main">
            <a:srgbClr val="273383">
              <a:alpha val="40000"/>
            </a:srgbClr>
          </a:solidFill>
          <a:ln xmlns:a="http://schemas.openxmlformats.org/drawingml/2006/main"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3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cb413e0c544e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82005" y="5451653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5" name="Text 17">
            <a:extLst xmlns:a="http://schemas.openxmlformats.org/drawingml/2006/main">
              <a:ext uri="{FF2B5EF4-FFF2-40B4-BE49-F238E27FC236}">
                <a16:creationId xmlns:a16="http://schemas.microsoft.com/office/drawing/2014/main" id="{5EE73A1C-63DD-4244-8576-EF611209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1" y="5823814"/>
            <a:ext cx="1722730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E2E8F0"/>
                </a:solidFill>
                <a:latin typeface="Poppins"/>
                <a:ea typeface="Poppins"/>
                <a:cs typeface="Poppins"/>
              </a:rPr>
              <a:t>T4 trained; H100-ready</a:t>
            </a:r>
            <a:endParaRPr sz="1000"/>
          </a:p>
        </p:txBody>
      </p:sp>
      <p:sp>
        <p:nvSpPr>
          <p:cNvPr id="26" name="Shape 18">
            <a:extLst xmlns:a="http://schemas.openxmlformats.org/drawingml/2006/main">
              <a:ext uri="{FF2B5EF4-FFF2-40B4-BE49-F238E27FC236}">
                <a16:creationId xmlns:a16="http://schemas.microsoft.com/office/drawing/2014/main" id="{849791CE-1069-49D1-9C65-E66C333F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249" y="5252314"/>
            <a:ext cx="3295498" cy="933602"/>
          </a:xfrm>
          <a:prstGeom xmlns:a="http://schemas.openxmlformats.org/drawingml/2006/main" prst="roundRect">
            <a:avLst>
              <a:gd name="adj" fmla="val 7995"/>
            </a:avLst>
          </a:prstGeom>
          <a:solidFill xmlns:a="http://schemas.openxmlformats.org/drawingml/2006/main">
            <a:srgbClr val="273383">
              <a:alpha val="40000"/>
            </a:srgbClr>
          </a:solidFill>
          <a:ln xmlns:a="http://schemas.openxmlformats.org/drawingml/2006/main"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6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255be6311488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67698" y="5451653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8" name="Text 19">
            <a:extLst xmlns:a="http://schemas.openxmlformats.org/drawingml/2006/main">
              <a:ext uri="{FF2B5EF4-FFF2-40B4-BE49-F238E27FC236}">
                <a16:creationId xmlns:a16="http://schemas.microsoft.com/office/drawing/2014/main" id="{9C712419-46A9-4E0A-8175-20DA174C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9058" y="5823814"/>
            <a:ext cx="1436522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E2E8F0"/>
                </a:solidFill>
                <a:latin typeface="Poppins"/>
                <a:ea typeface="Poppins"/>
                <a:cs typeface="Poppins"/>
              </a:rPr>
              <a:t>Git LFS + pytest</a:t>
            </a:r>
            <a:endParaRPr sz="1000"/>
          </a:p>
        </p:txBody>
      </p:sp>
      <p:pic>
        <p:nvPicPr>
          <p:cNvPr id="68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e2386ba11448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44743" y="228600"/>
            <a:ext cx="1607366" cy="783591"/>
          </a:xfrm>
          <a:prstGeom xmlns:a="http://schemas.openxmlformats.org/drawingml/2006/main" prst="rect">
            <a:avLst/>
          </a:prstGeom>
        </p:spPr>
      </p:pic>
      <p:sp>
        <p:nvSpPr>
          <p:cNvPr id="31" name="Shape 1">
            <a:extLst xmlns:a="http://schemas.openxmlformats.org/drawingml/2006/main">
              <a:ext uri="{FF2B5EF4-FFF2-40B4-BE49-F238E27FC236}">
                <a16:creationId xmlns:a16="http://schemas.microsoft.com/office/drawing/2014/main" id="{10B6379C-1BCE-6784-4600-934501FC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793"/>
            <a:ext cx="11048695" cy="857707"/>
          </a:xfrm>
          <a:prstGeom xmlns:a="http://schemas.openxmlformats.org/drawingml/2006/main" prst="roundRect">
            <a:avLst>
              <a:gd name="adj" fmla="val 9476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0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6f9b2a0f74f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14101" y="378206"/>
            <a:ext cx="9163491" cy="5864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2637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1D20E4B-D803-4D4E-8906-1DE4D26D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2fd7fd7f947d7">
            <a:alphaModFix amt="10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A6068B4E-BF9C-43E0-8A62-3B3DB72F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207"/>
            <a:ext cx="11048695" cy="666598"/>
          </a:xfrm>
          <a:prstGeom xmlns:a="http://schemas.openxmlformats.org/drawingml/2006/main" prst="roundRect">
            <a:avLst>
              <a:gd name="adj" fmla="val 15677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b526acfc743e3"/>
          <a:srcRect xmlns:a="http://schemas.openxmlformats.org/drawingml/2006/main" l="0" t="10" r="0" b="10"/>
          <a:stretch xmlns:a="http://schemas.openxmlformats.org/drawingml/2006/main"/>
        </p:blipFill>
        <p:spPr>
          <a:xfrm xmlns:a="http://schemas.openxmlformats.org/drawingml/2006/main">
            <a:off x="857707" y="381305"/>
            <a:ext cx="1266444" cy="476402"/>
          </a:xfrm>
          <a:prstGeom xmlns:a="http://schemas.openxmlformats.org/drawingml/2006/main" prst="rect">
            <a:avLst/>
          </a:prstGeom>
        </p:spPr>
      </p:pic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cc2e1d64349d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58500" y="381305"/>
            <a:ext cx="476402" cy="476402"/>
          </a:xfrm>
          <a:prstGeom xmlns:a="http://schemas.openxmlformats.org/drawingml/2006/main" prst="rect">
            <a:avLst/>
          </a:prstGeom>
        </p:spPr>
      </p:pic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CB73054D-758F-4FF1-8204-B8BAA33D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195"/>
            <a:ext cx="75895" cy="40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E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EBC3E0FB-5179-494F-80DB-3991F06D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5" y="1295705"/>
            <a:ext cx="3604565" cy="467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Code and Executable Evidence</a:t>
            </a:r>
            <a:endParaRPr sz="2600"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820CDA08-A97C-4F0B-B6FC-36929E78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1048695" cy="4552798"/>
          </a:xfrm>
          <a:prstGeom xmlns:a="http://schemas.openxmlformats.org/drawingml/2006/main" prst="roundRect">
            <a:avLst>
              <a:gd name="adj" fmla="val 672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F1E06731-69AC-4EFE-9446-8BB22AE2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90195" cy="190195"/>
          </a:xfrm>
          <a:prstGeom xmlns:a="http://schemas.openxmlformats.org/drawingml/2006/main" prst="roundRect">
            <a:avLst>
              <a:gd name="adj" fmla="val 19230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07B642A3-09E3-44F8-92C0-9F2DFB20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02173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76987C05-0BE5-4193-BF9D-1F598BAC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DEB28E85-D534-4C9C-890F-39C618F6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79BE0B42-ACCB-49B6-8B61-B714FAD7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49" y="2696566"/>
            <a:ext cx="9810598" cy="1447495"/>
          </a:xfrm>
          <a:prstGeom xmlns:a="http://schemas.openxmlformats.org/drawingml/2006/main" prst="roundRect">
            <a:avLst>
              <a:gd name="adj" fmla="val 4987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6E975884-4C9F-44D7-B416-BCD0C541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207" y="3087014"/>
            <a:ext cx="666598" cy="6665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6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  <a:effectLst xmlns:a="http://schemas.openxmlformats.org/drawingml/2006/main"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e59a2afaf4df2"/>
          <a:srcRect xmlns:a="http://schemas.openxmlformats.org/drawingml/2006/main" l="-237" t="0" r="-237" b="0"/>
          <a:stretch xmlns:a="http://schemas.openxmlformats.org/drawingml/2006/main"/>
        </p:blipFill>
        <p:spPr>
          <a:xfrm xmlns:a="http://schemas.openxmlformats.org/drawingml/2006/main">
            <a:off x="1595628" y="3248863"/>
            <a:ext cx="333756" cy="342900"/>
          </a:xfrm>
          <a:prstGeom xmlns:a="http://schemas.openxmlformats.org/drawingml/2006/main" prst="rect">
            <a:avLst/>
          </a:prstGeom>
        </p:spPr>
      </p:pic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C0D5C041-C897-46B1-A8F6-25E159EE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34310"/>
            <a:ext cx="2000707" cy="2670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88E555"/>
                </a:solidFill>
                <a:latin typeface="Poppins"/>
                <a:ea typeface="Poppins"/>
                <a:cs typeface="Poppins"/>
              </a:rPr>
              <a:t>GITHUB REPOSITORY</a:t>
            </a:r>
            <a:endParaRPr sz="1500"/>
          </a:p>
        </p:txBody>
      </p:sp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6A0A8E5D-5FC2-4EDC-A4B7-B6F28394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15614"/>
            <a:ext cx="8363102" cy="590702"/>
          </a:xfrm>
          <a:prstGeom xmlns:a="http://schemas.openxmlformats.org/drawingml/2006/main" prst="roundRect">
            <a:avLst>
              <a:gd name="adj" fmla="val 19974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4B55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093d877c44c49"/>
          <a:srcRect xmlns:a="http://schemas.openxmlformats.org/drawingml/2006/main" l="0" t="-180" r="0" b="-180"/>
          <a:stretch xmlns:a="http://schemas.openxmlformats.org/drawingml/2006/main"/>
        </p:blipFill>
        <p:spPr>
          <a:xfrm xmlns:a="http://schemas.openxmlformats.org/drawingml/2006/main">
            <a:off x="2562149" y="3535070"/>
            <a:ext cx="190195" cy="152705"/>
          </a:xfrm>
          <a:prstGeom xmlns:a="http://schemas.openxmlformats.org/drawingml/2006/main" prst="rect">
            <a:avLst/>
          </a:prstGeom>
        </p:spPr>
      </p:pic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1B665B93-9A38-40E6-80DF-E658FF2E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644" y="3487522"/>
            <a:ext cx="3891686" cy="2386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i="1">
                <a:solidFill>
                  <a:srgbClr val="D1D5DB"/>
                </a:solidFill>
                <a:latin typeface="Poppins"/>
                <a:ea typeface="Poppins"/>
                <a:cs typeface="Poppins"/>
              </a:rPr>
              <a:t>github.com/IAM-MUKUND/image-restoration-project</a:t>
            </a:r>
            <a:endParaRPr sz="1300"/>
          </a:p>
        </p:txBody>
      </p:sp>
      <p:sp>
        <p:nvSpPr>
          <p:cNvPr id="21" name="Shape 14">
            <a:extLst xmlns:a="http://schemas.openxmlformats.org/drawingml/2006/main">
              <a:ext uri="{FF2B5EF4-FFF2-40B4-BE49-F238E27FC236}">
                <a16:creationId xmlns:a16="http://schemas.microsoft.com/office/drawing/2014/main" id="{A04DA0E3-A067-4C68-8723-02B42314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49" y="4449470"/>
            <a:ext cx="9810598" cy="1447495"/>
          </a:xfrm>
          <a:prstGeom xmlns:a="http://schemas.openxmlformats.org/drawingml/2006/main" prst="roundRect">
            <a:avLst>
              <a:gd name="adj" fmla="val 4987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hape 15">
            <a:extLst xmlns:a="http://schemas.openxmlformats.org/drawingml/2006/main">
              <a:ext uri="{FF2B5EF4-FFF2-40B4-BE49-F238E27FC236}">
                <a16:creationId xmlns:a16="http://schemas.microsoft.com/office/drawing/2014/main" id="{D7A4625D-A3F1-41B4-B72C-B96C1B02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207" y="4839919"/>
            <a:ext cx="666598" cy="6665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6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  <a:effectLst xmlns:a="http://schemas.openxmlformats.org/drawingml/2006/main"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86815d3ca4308"/>
          <a:srcRect xmlns:a="http://schemas.openxmlformats.org/drawingml/2006/main" l="-607" t="0" r="-607" b="0"/>
          <a:stretch xmlns:a="http://schemas.openxmlformats.org/drawingml/2006/main"/>
        </p:blipFill>
        <p:spPr>
          <a:xfrm xmlns:a="http://schemas.openxmlformats.org/drawingml/2006/main">
            <a:off x="1567282" y="5001768"/>
            <a:ext cx="390449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Text 16">
            <a:extLst xmlns:a="http://schemas.openxmlformats.org/drawingml/2006/main">
              <a:ext uri="{FF2B5EF4-FFF2-40B4-BE49-F238E27FC236}">
                <a16:creationId xmlns:a16="http://schemas.microsoft.com/office/drawing/2014/main" id="{D336D868-D5BB-4D4D-9791-A65B75B2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87214"/>
            <a:ext cx="3086100" cy="2670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88E555"/>
                </a:solidFill>
                <a:latin typeface="Poppins"/>
                <a:ea typeface="Poppins"/>
                <a:cs typeface="Poppins"/>
              </a:rPr>
              <a:t>RESTORED-OUTPUT EVIDENCE</a:t>
            </a:r>
            <a:endParaRPr sz="1500"/>
          </a:p>
        </p:txBody>
      </p:sp>
      <p:sp>
        <p:nvSpPr>
          <p:cNvPr id="25" name="Shape 17">
            <a:extLst xmlns:a="http://schemas.openxmlformats.org/drawingml/2006/main">
              <a:ext uri="{FF2B5EF4-FFF2-40B4-BE49-F238E27FC236}">
                <a16:creationId xmlns:a16="http://schemas.microsoft.com/office/drawing/2014/main" id="{71897DBD-EA33-49C8-803D-D3CBD557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68519"/>
            <a:ext cx="8363102" cy="590702"/>
          </a:xfrm>
          <a:prstGeom xmlns:a="http://schemas.openxmlformats.org/drawingml/2006/main" prst="roundRect">
            <a:avLst>
              <a:gd name="adj" fmla="val 19974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4B55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05ad8d64244ac"/>
          <a:srcRect xmlns:a="http://schemas.openxmlformats.org/drawingml/2006/main" l="-33" t="0" r="-33" b="0"/>
          <a:stretch xmlns:a="http://schemas.openxmlformats.org/drawingml/2006/main"/>
        </p:blipFill>
        <p:spPr>
          <a:xfrm xmlns:a="http://schemas.openxmlformats.org/drawingml/2006/main">
            <a:off x="2562149" y="5287061"/>
            <a:ext cx="171907" cy="152705"/>
          </a:xfrm>
          <a:prstGeom xmlns:a="http://schemas.openxmlformats.org/drawingml/2006/main" prst="rect">
            <a:avLst/>
          </a:prstGeom>
        </p:spPr>
      </p:pic>
      <p:sp>
        <p:nvSpPr>
          <p:cNvPr id="27" name="Text 18">
            <a:extLst xmlns:a="http://schemas.openxmlformats.org/drawingml/2006/main">
              <a:ext uri="{FF2B5EF4-FFF2-40B4-BE49-F238E27FC236}">
                <a16:creationId xmlns:a16="http://schemas.microsoft.com/office/drawing/2014/main" id="{51CDC467-EF8C-4E41-8F70-4877F43D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356" y="5239512"/>
            <a:ext cx="6053328" cy="2386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i="1">
                <a:solidFill>
                  <a:srgbClr val="D1D5DB"/>
                </a:solidFill>
                <a:latin typeface="Poppins"/>
                <a:ea typeface="Poppins"/>
                <a:cs typeface="Poppins"/>
              </a:rPr>
              <a:t>artifacts/remote-runs/daf-final-submission/ (400 outputs + validation)</a:t>
            </a:r>
            <a:endParaRPr sz="1300"/>
          </a:p>
        </p:txBody>
      </p:sp>
      <p:pic>
        <p:nvPicPr>
          <p:cNvPr id="66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2cbe1160440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92164" y="227710"/>
            <a:ext cx="1607366" cy="783591"/>
          </a:xfrm>
          <a:prstGeom xmlns:a="http://schemas.openxmlformats.org/drawingml/2006/main" prst="rect">
            <a:avLst/>
          </a:prstGeom>
        </p:spPr>
      </p:pic>
      <p:sp>
        <p:nvSpPr>
          <p:cNvPr id="30" name="Shape 1">
            <a:extLst xmlns:a="http://schemas.openxmlformats.org/drawingml/2006/main">
              <a:ext uri="{FF2B5EF4-FFF2-40B4-BE49-F238E27FC236}">
                <a16:creationId xmlns:a16="http://schemas.microsoft.com/office/drawing/2014/main" id="{89A93441-4E5C-0FCA-6BDD-16AB2E1B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944"/>
            <a:ext cx="11048695" cy="857707"/>
          </a:xfrm>
          <a:prstGeom xmlns:a="http://schemas.openxmlformats.org/drawingml/2006/main" prst="roundRect">
            <a:avLst>
              <a:gd name="adj" fmla="val 9476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8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6d9e50db44c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14101" y="297181"/>
            <a:ext cx="9163491" cy="5864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0622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63E5476-1F9F-4274-8288-F1D39481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ee1eb1df5448c6">
            <a:alphaModFix amt="10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9C14C2C0-7922-4D69-837C-D6F03798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207"/>
            <a:ext cx="11048695" cy="666598"/>
          </a:xfrm>
          <a:prstGeom xmlns:a="http://schemas.openxmlformats.org/drawingml/2006/main" prst="roundRect">
            <a:avLst>
              <a:gd name="adj" fmla="val 15677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08ba89d21e4b25"/>
          <a:srcRect xmlns:a="http://schemas.openxmlformats.org/drawingml/2006/main" l="0" t="10" r="0" b="10"/>
          <a:stretch xmlns:a="http://schemas.openxmlformats.org/drawingml/2006/main"/>
        </p:blipFill>
        <p:spPr>
          <a:xfrm xmlns:a="http://schemas.openxmlformats.org/drawingml/2006/main">
            <a:off x="857707" y="381305"/>
            <a:ext cx="1266444" cy="476402"/>
          </a:xfrm>
          <a:prstGeom xmlns:a="http://schemas.openxmlformats.org/drawingml/2006/main" prst="rect">
            <a:avLst/>
          </a:prstGeom>
        </p:spPr>
      </p:pic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f152013b74f3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58500" y="381305"/>
            <a:ext cx="476402" cy="476402"/>
          </a:xfrm>
          <a:prstGeom xmlns:a="http://schemas.openxmlformats.org/drawingml/2006/main" prst="rect">
            <a:avLst/>
          </a:prstGeom>
        </p:spPr>
      </p:pic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F6C1EE36-49D3-4D89-8EDD-28E5F8DD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549"/>
            <a:ext cx="75895" cy="40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E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B6DC648E-732B-4440-8520-74758776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5" y="1152144"/>
            <a:ext cx="4624121" cy="467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Research &amp; References</a:t>
            </a:r>
            <a:endParaRPr sz="2600"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11D7FDC2-360C-4BB8-844B-A0A807DF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30629"/>
            <a:ext cx="11048695" cy="4743907"/>
          </a:xfrm>
          <a:prstGeom xmlns:a="http://schemas.openxmlformats.org/drawingml/2006/main" prst="roundRect">
            <a:avLst>
              <a:gd name="adj" fmla="val 619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F37E31DE-399A-4F6B-A2EB-59A82E46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30629"/>
            <a:ext cx="190195" cy="190195"/>
          </a:xfrm>
          <a:prstGeom xmlns:a="http://schemas.openxmlformats.org/drawingml/2006/main" prst="roundRect">
            <a:avLst>
              <a:gd name="adj" fmla="val 19230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B79D0E82-327B-4037-A153-01296077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830629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15B1B5B5-D692-4055-8DA7-87423958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E7A19556-63E7-46DD-8D84-F05381B1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95A22DF4-202F-47F2-BC47-0AD2CF67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2173529"/>
            <a:ext cx="476402" cy="476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5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aa7afb7ad439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6307" y="229788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9D3BC911-C19C-471A-8AA8-BA7B0CBD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546" y="2173529"/>
            <a:ext cx="3810305" cy="2670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88E555"/>
                </a:solidFill>
                <a:latin typeface="Poppins"/>
                <a:ea typeface="Poppins"/>
                <a:cs typeface="Poppins"/>
              </a:rPr>
              <a:t>RESEARCH FOUNDATION</a:t>
            </a:r>
            <a:endParaRPr sz="1500"/>
          </a:p>
        </p:txBody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0843E7FA-4907-4C2F-9019-D38AEF0A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546" y="2516429"/>
            <a:ext cx="5701284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D1D5DB"/>
                </a:solidFill>
                <a:latin typeface="Poppins"/>
                <a:ea typeface="Poppins"/>
                <a:cs typeface="Poppins"/>
              </a:rPr>
              <a:t>Fidelity-first transformer restoration with explicit degradation conditioning.</a:t>
            </a:r>
            <a:endParaRPr sz="1000"/>
          </a:p>
        </p:txBody>
      </p:sp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EBEEB413-A6FC-4761-989F-FA8E1D33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546" y="2783434"/>
            <a:ext cx="9601200" cy="1067105"/>
          </a:xfrm>
          <a:prstGeom xmlns:a="http://schemas.openxmlformats.org/drawingml/2006/main" prst="roundRect">
            <a:avLst>
              <a:gd name="adj" fmla="val 6121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2517C396-1070-46C5-AE53-BCB85A68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395" y="2945282"/>
            <a:ext cx="5544007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DAF-Restormer combines Restormer attention/GDFN blocks with learned degradation prompts, spatial noise estimation, FFT-domain gating, auxiliary supervision, and dihedral self-ensemble.</a:t>
            </a:r>
            <a:endParaRPr sz="120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0042C972-5B4E-432F-B568-9F45FCD5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4155034"/>
            <a:ext cx="476402" cy="476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5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71b4f2a39f424a"/>
          <a:srcRect xmlns:a="http://schemas.openxmlformats.org/drawingml/2006/main" l="-80" t="0" r="-80" b="0"/>
          <a:stretch xmlns:a="http://schemas.openxmlformats.org/drawingml/2006/main"/>
        </p:blipFill>
        <p:spPr>
          <a:xfrm xmlns:a="http://schemas.openxmlformats.org/drawingml/2006/main">
            <a:off x="1057046" y="4279392"/>
            <a:ext cx="286207" cy="228600"/>
          </a:xfrm>
          <a:prstGeom xmlns:a="http://schemas.openxmlformats.org/drawingml/2006/main" prst="rect">
            <a:avLst/>
          </a:prstGeom>
        </p:spPr>
      </p:pic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AEE488A4-CC7B-400D-BFBB-90630A13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546" y="4155034"/>
            <a:ext cx="2343607" cy="2670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88E555"/>
                </a:solidFill>
                <a:latin typeface="Poppins"/>
                <a:ea typeface="Poppins"/>
                <a:cs typeface="Poppins"/>
              </a:rPr>
              <a:t>REFERENCES</a:t>
            </a:r>
            <a:endParaRPr sz="1500"/>
          </a:p>
        </p:txBody>
      </p:sp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E91C6C57-C446-40E8-B7F1-90336BF0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546" y="4497934"/>
            <a:ext cx="2767889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D1D5DB"/>
                </a:solidFill>
                <a:latin typeface="Poppins"/>
                <a:ea typeface="Poppins"/>
                <a:cs typeface="Poppins"/>
              </a:rPr>
              <a:t>Core architectures and official challenge source.</a:t>
            </a:r>
            <a:endParaRPr sz="1000"/>
          </a:p>
        </p:txBody>
      </p:sp>
      <p:sp>
        <p:nvSpPr>
          <p:cNvPr id="24" name="Shape 17">
            <a:extLst xmlns:a="http://schemas.openxmlformats.org/drawingml/2006/main">
              <a:ext uri="{FF2B5EF4-FFF2-40B4-BE49-F238E27FC236}">
                <a16:creationId xmlns:a16="http://schemas.microsoft.com/office/drawing/2014/main" id="{790D535A-0E64-440C-97D5-B1E1F73C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546" y="4764938"/>
            <a:ext cx="9601200" cy="1410005"/>
          </a:xfrm>
          <a:prstGeom xmlns:a="http://schemas.openxmlformats.org/drawingml/2006/main" prst="roundRect">
            <a:avLst>
              <a:gd name="adj" fmla="val 3505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hape 18">
            <a:extLst xmlns:a="http://schemas.openxmlformats.org/drawingml/2006/main">
              <a:ext uri="{FF2B5EF4-FFF2-40B4-BE49-F238E27FC236}">
                <a16:creationId xmlns:a16="http://schemas.microsoft.com/office/drawing/2014/main" id="{A42D50C5-9621-4593-9136-C030C5DC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395" y="5232197"/>
            <a:ext cx="9277502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3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6BB6DDE3-2CC6-4B48-89F7-C5CF3236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395" y="4926787"/>
            <a:ext cx="321960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</a:rPr>
              <a:t>Zamir et al., Restormer, CVPR 2022 - arXiv:2111.09881</a:t>
            </a:r>
            <a:endParaRPr sz="1200"/>
          </a:p>
        </p:txBody>
      </p:sp>
      <p:sp>
        <p:nvSpPr>
          <p:cNvPr id="27" name="Shape 20">
            <a:extLst xmlns:a="http://schemas.openxmlformats.org/drawingml/2006/main">
              <a:ext uri="{FF2B5EF4-FFF2-40B4-BE49-F238E27FC236}">
                <a16:creationId xmlns:a16="http://schemas.microsoft.com/office/drawing/2014/main" id="{84C49BAA-5398-4A9E-8EB2-E8F96F12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395" y="5661050"/>
            <a:ext cx="9277502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3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799E261C-CCB2-42EF-84DC-D3F3603A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395" y="5355641"/>
            <a:ext cx="325800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</a:rPr>
              <a:t>Liang et al., SwinIR, ICCVW 2021 - arXiv:2108.10257</a:t>
            </a:r>
            <a:endParaRPr sz="1200"/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2A8D441D-01C9-4950-9A99-6D94BB2F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395" y="5783580"/>
            <a:ext cx="325800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</a:rPr>
              <a:t>Chen et al., NAFNet, ECCV 2022 - arXiv:2204.04676</a:t>
            </a:r>
            <a:endParaRPr sz="1200"/>
          </a:p>
        </p:txBody>
      </p:sp>
      <p:pic>
        <p:nvPicPr>
          <p:cNvPr id="68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be0ac524345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92164" y="227710"/>
            <a:ext cx="1607366" cy="783591"/>
          </a:xfrm>
          <a:prstGeom xmlns:a="http://schemas.openxmlformats.org/drawingml/2006/main" prst="rect">
            <a:avLst/>
          </a:prstGeom>
        </p:spPr>
      </p:pic>
      <p:sp>
        <p:nvSpPr>
          <p:cNvPr id="32" name="Shape 1">
            <a:extLst xmlns:a="http://schemas.openxmlformats.org/drawingml/2006/main">
              <a:ext uri="{FF2B5EF4-FFF2-40B4-BE49-F238E27FC236}">
                <a16:creationId xmlns:a16="http://schemas.microsoft.com/office/drawing/2014/main" id="{3E27E131-AC1D-E75C-0267-02565ACC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714"/>
            <a:ext cx="11048695" cy="857707"/>
          </a:xfrm>
          <a:prstGeom xmlns:a="http://schemas.openxmlformats.org/drawingml/2006/main" prst="roundRect">
            <a:avLst>
              <a:gd name="adj" fmla="val 9476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0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122b8ff5348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14101" y="390016"/>
            <a:ext cx="9163491" cy="5864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57262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2026-08-15T09:17:57.2450000Z</dcterms:created>
  <dcterms:modified xsi:type="dcterms:W3CDTF">2026-08-15T09:17:57.2450000Z</dcterms:modified>
</coreProperties>
</file>